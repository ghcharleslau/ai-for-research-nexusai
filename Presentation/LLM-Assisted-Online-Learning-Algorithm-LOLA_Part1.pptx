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5" r:id="rId8"/>
    <p:sldId id="262" r:id="rId9"/>
    <p:sldId id="263" r:id="rId10"/>
    <p:sldId id="264" r:id="rId11"/>
    <p:sldId id="266" r:id="rId12"/>
    <p:sldId id="268" r:id="rId13"/>
    <p:sldId id="267" r:id="rId14"/>
    <p:sldId id="269" r:id="rId15"/>
    <p:sldId id="270" r:id="rId16"/>
    <p:sldId id="272" r:id="rId17"/>
  </p:sldIdLst>
  <p:sldSz cx="14630400" cy="8229600"/>
  <p:notesSz cx="8229600" cy="146304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96"/>
    <p:restoredTop sz="87942" autoAdjust="0"/>
  </p:normalViewPr>
  <p:slideViewPr>
    <p:cSldViewPr snapToGrid="0" snapToObjects="1">
      <p:cViewPr>
        <p:scale>
          <a:sx n="75" d="100"/>
          <a:sy n="75" d="100"/>
        </p:scale>
        <p:origin x="612"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8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BAF09-1F1B-3AEF-1A3B-8540AF072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9EACF-CA18-39E9-6D62-971DC950E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0DC29-888D-B5CE-A948-F852B7656C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AF2E46-9F9A-1889-ABC8-8A0CD725847C}"/>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152378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403AD-D1AB-0377-2224-364B72499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2C1C4-AB6B-4587-8077-4473C7561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CF718-EE4B-DAA0-21C6-B8A69995645E}"/>
              </a:ext>
            </a:extLst>
          </p:cNvPr>
          <p:cNvSpPr>
            <a:spLocks noGrp="1"/>
          </p:cNvSpPr>
          <p:nvPr>
            <p:ph type="body" idx="1"/>
          </p:nvPr>
        </p:nvSpPr>
        <p:spPr/>
        <p:txBody>
          <a:bodyPr/>
          <a:lstStyle/>
          <a:p>
            <a:r>
              <a:rPr lang="en-US" dirty="0"/>
              <a:t>The learner’s goal is to minimize cumulative regret, which is defined as the difference between the reward  obtained by always choosing the optimal arm and the reward actually accumulated by the learner under the  policy played by the learner.</a:t>
            </a:r>
          </a:p>
          <a:p>
            <a:endParaRPr lang="en-US" dirty="0"/>
          </a:p>
          <a:p>
            <a:r>
              <a:rPr lang="en-US" dirty="0"/>
              <a:t>UCB ensures that arms with fewer selections  (higher uncertainty) are given a chance to be explored. </a:t>
            </a:r>
          </a:p>
          <a:p>
            <a:r>
              <a:rPr lang="en-US" dirty="0"/>
              <a:t>The UCB policy is straightforward – it selects the arm that maximizes  the upper confidence bound on the estimated rewards.</a:t>
            </a:r>
          </a:p>
        </p:txBody>
      </p:sp>
      <p:sp>
        <p:nvSpPr>
          <p:cNvPr id="4" name="Slide Number Placeholder 3">
            <a:extLst>
              <a:ext uri="{FF2B5EF4-FFF2-40B4-BE49-F238E27FC236}">
                <a16:creationId xmlns:a16="http://schemas.microsoft.com/office/drawing/2014/main" id="{59220AB4-6FA0-E164-899D-BA607A479D5D}"/>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446817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A9CF4-5865-5566-C873-787875489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A154D-7DFB-4974-F529-433483863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4664FD-1D4E-3134-886E-727FE44A1D30}"/>
              </a:ext>
            </a:extLst>
          </p:cNvPr>
          <p:cNvSpPr>
            <a:spLocks noGrp="1"/>
          </p:cNvSpPr>
          <p:nvPr>
            <p:ph type="body" idx="1"/>
          </p:nvPr>
        </p:nvSpPr>
        <p:spPr/>
        <p:txBody>
          <a:bodyPr/>
          <a:lstStyle/>
          <a:p>
            <a:r>
              <a:rPr lang="en-US" dirty="0"/>
              <a:t>in this algorithm, we treat the LLM’s CTR predictions as  auxiliary information prior to the start of online experiments, equating this auxiliary CTR information to  additional impressions and click outcomes for each arm.</a:t>
            </a:r>
          </a:p>
          <a:p>
            <a:endParaRPr lang="en-US" dirty="0"/>
          </a:p>
          <a:p>
            <a:r>
              <a:rPr lang="en-US" dirty="0"/>
              <a:t>There are two hyperparameters in LLM-2UCBs – (1) The upper bound control hyperparameter, α, that  also shows up in the regular UCB algorithm, and </a:t>
            </a:r>
          </a:p>
          <a:p>
            <a:r>
              <a:rPr lang="en-US" dirty="0"/>
              <a:t>(2) The hyperparameter </a:t>
            </a:r>
            <a:r>
              <a:rPr lang="en-US" dirty="0" err="1"/>
              <a:t>n^aux</a:t>
            </a:r>
            <a:r>
              <a:rPr lang="en-US" dirty="0"/>
              <a:t>, which is specific to our  proposed algorithm and indicates the equivalent auxiliary samples for initialization.</a:t>
            </a:r>
          </a:p>
        </p:txBody>
      </p:sp>
      <p:sp>
        <p:nvSpPr>
          <p:cNvPr id="4" name="Slide Number Placeholder 3">
            <a:extLst>
              <a:ext uri="{FF2B5EF4-FFF2-40B4-BE49-F238E27FC236}">
                <a16:creationId xmlns:a16="http://schemas.microsoft.com/office/drawing/2014/main" id="{68A39AF3-FF29-FCA8-B5FA-56789D4B0D3B}"/>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3618414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78D16-6B1B-3029-75D1-8097F1DAF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174BD-84E6-73EF-24EC-054768979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234FAB-6B0F-962C-51A6-D99E496FEA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D6FEB8-D83C-82CB-CB01-EC2E111C6E81}"/>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2176716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6AD5C-67AD-711F-4753-2D0108A0B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83F2A-5ABF-B4BD-1B8A-BFED15007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ED906-C3A2-B0A2-87CF-91C15FC78B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0562E5-9BA6-3307-84BC-D6CB6E57898A}"/>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249283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B4F0-D9B1-A176-18C2-92910178F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B176E-DCC4-92D4-D5BE-62ED7EF5B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013CD2-D339-4B58-CE02-19692463AD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CD5E5E-F6DF-5DD2-B76D-70B05F214124}"/>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4140971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GHCharlesLau/AI-for-research-nexusAI"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89" y="1393612"/>
            <a:ext cx="13042821" cy="620078"/>
          </a:xfrm>
          <a:prstGeom prst="rect">
            <a:avLst/>
          </a:prstGeom>
          <a:noFill/>
          <a:ln/>
        </p:spPr>
        <p:txBody>
          <a:bodyPr wrap="none" lIns="0" tIns="0" rIns="0" bIns="0" rtlCol="0" anchor="t"/>
          <a:lstStyle/>
          <a:p>
            <a:pPr marL="0" indent="0" algn="l">
              <a:lnSpc>
                <a:spcPts val="4850"/>
              </a:lnSpc>
              <a:buNone/>
            </a:pPr>
            <a:r>
              <a:rPr lang="en-US" sz="3600" b="1" dirty="0">
                <a:latin typeface="Calibri" panose="020F0502020204030204" pitchFamily="34" charset="0"/>
                <a:ea typeface="Crimson Pro Semi Bold" pitchFamily="34" charset="-122"/>
                <a:cs typeface="Calibri" panose="020F0502020204030204" pitchFamily="34" charset="0"/>
              </a:rPr>
              <a:t>LOLA: LLM-Assisted Online Learning Algorithm</a:t>
            </a:r>
            <a:r>
              <a:rPr lang="zh-CN" altLang="en-US" sz="3600" b="1">
                <a:latin typeface="Calibri" panose="020F0502020204030204" pitchFamily="34" charset="0"/>
                <a:ea typeface="Crimson Pro Semi Bold" pitchFamily="34" charset="-122"/>
                <a:cs typeface="Calibri" panose="020F0502020204030204" pitchFamily="34" charset="0"/>
              </a:rPr>
              <a:t> </a:t>
            </a:r>
            <a:r>
              <a:rPr lang="en-US" sz="3600" b="1" dirty="0">
                <a:latin typeface="Calibri" panose="020F0502020204030204" pitchFamily="34" charset="0"/>
                <a:ea typeface="Crimson Pro Semi Bold" pitchFamily="34" charset="-122"/>
                <a:cs typeface="Calibri" panose="020F0502020204030204" pitchFamily="34" charset="0"/>
              </a:rPr>
              <a:t>for Content Experiments</a:t>
            </a:r>
          </a:p>
        </p:txBody>
      </p:sp>
      <p:sp>
        <p:nvSpPr>
          <p:cNvPr id="3" name="Text 1"/>
          <p:cNvSpPr/>
          <p:nvPr/>
        </p:nvSpPr>
        <p:spPr>
          <a:xfrm>
            <a:off x="793790" y="2410524"/>
            <a:ext cx="6521409" cy="351917"/>
          </a:xfrm>
          <a:prstGeom prst="rect">
            <a:avLst/>
          </a:prstGeom>
          <a:noFill/>
          <a:ln/>
        </p:spPr>
        <p:txBody>
          <a:bodyPr wrap="none" lIns="0" tIns="0" rIns="0" bIns="0" rtlCol="0" anchor="t"/>
          <a:lstStyle/>
          <a:p>
            <a:pPr marL="0" indent="0" algn="l">
              <a:lnSpc>
                <a:spcPts val="25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Ye, Yoganarasimhan, Zheng | Marketing Science, 2025</a:t>
            </a:r>
            <a:endParaRPr lang="en-US" sz="1600" dirty="0">
              <a:latin typeface="Calibri" panose="020F0502020204030204" pitchFamily="34" charset="0"/>
              <a:cs typeface="Calibri" panose="020F0502020204030204" pitchFamily="34" charset="0"/>
            </a:endParaRPr>
          </a:p>
        </p:txBody>
      </p:sp>
      <p:sp>
        <p:nvSpPr>
          <p:cNvPr id="4" name="Shape 2"/>
          <p:cNvSpPr/>
          <p:nvPr/>
        </p:nvSpPr>
        <p:spPr>
          <a:xfrm>
            <a:off x="793789" y="3050456"/>
            <a:ext cx="13042821" cy="32385"/>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5" name="Text 3"/>
          <p:cNvSpPr/>
          <p:nvPr/>
        </p:nvSpPr>
        <p:spPr>
          <a:xfrm>
            <a:off x="793789" y="3656387"/>
            <a:ext cx="13042821" cy="1270159"/>
          </a:xfrm>
          <a:prstGeom prst="rect">
            <a:avLst/>
          </a:prstGeom>
          <a:noFill/>
          <a:ln/>
        </p:spPr>
        <p:txBody>
          <a:bodyPr wrap="square" lIns="0" tIns="0" rIns="0" bIns="0" rtlCol="0" anchor="t"/>
          <a:lstStyle/>
          <a:p>
            <a:pPr marL="0" indent="0" algn="l">
              <a:lnSpc>
                <a:spcPts val="2500"/>
              </a:lnSpc>
              <a:buNone/>
            </a:pPr>
            <a:r>
              <a:rPr lang="en-US" dirty="0">
                <a:latin typeface="Calibri" panose="020F0502020204030204" pitchFamily="34" charset="0"/>
                <a:ea typeface="Heebo" pitchFamily="34" charset="-122"/>
                <a:cs typeface="Calibri" panose="020F0502020204030204" pitchFamily="34" charset="0"/>
              </a:rPr>
              <a:t>Digital content consumption is growing at an unprecedented pace, creating both opportunities and challenges for media firms. In this hyper-competitive landscape, publishers must continuously identify the most appealing articles, craft the most attractive headlines, and design the most engaging packaging to capture audience attention. The key metric driving these decisions is </a:t>
            </a:r>
            <a:r>
              <a:rPr lang="en-US" b="1" dirty="0">
                <a:latin typeface="Calibri" panose="020F0502020204030204" pitchFamily="34" charset="0"/>
                <a:ea typeface="Heebo" pitchFamily="34" charset="-122"/>
                <a:cs typeface="Calibri" panose="020F0502020204030204" pitchFamily="34" charset="0"/>
              </a:rPr>
              <a:t>Click-Through Rate (CTR)</a:t>
            </a:r>
            <a:r>
              <a:rPr lang="zh-CN" altLang="en-US" b="1">
                <a:latin typeface="Calibri" panose="020F0502020204030204" pitchFamily="34" charset="0"/>
                <a:ea typeface="Heebo" pitchFamily="34" charset="-122"/>
                <a:cs typeface="Calibri" panose="020F0502020204030204" pitchFamily="34" charset="0"/>
              </a:rPr>
              <a:t> </a:t>
            </a:r>
            <a:r>
              <a:rPr lang="en-US" dirty="0">
                <a:latin typeface="Calibri" panose="020F0502020204030204" pitchFamily="34" charset="0"/>
                <a:ea typeface="Heebo" pitchFamily="34" charset="-122"/>
                <a:cs typeface="Calibri" panose="020F0502020204030204" pitchFamily="34" charset="0"/>
              </a:rPr>
              <a:t>—</a:t>
            </a:r>
            <a:r>
              <a:rPr lang="zh-CN" altLang="en-US">
                <a:latin typeface="Calibri" panose="020F0502020204030204" pitchFamily="34" charset="0"/>
                <a:ea typeface="Heebo" pitchFamily="34" charset="-122"/>
                <a:cs typeface="Calibri" panose="020F0502020204030204" pitchFamily="34" charset="0"/>
              </a:rPr>
              <a:t> </a:t>
            </a:r>
            <a:r>
              <a:rPr lang="en-US" dirty="0">
                <a:latin typeface="Calibri" panose="020F0502020204030204" pitchFamily="34" charset="0"/>
                <a:ea typeface="Heebo" pitchFamily="34" charset="-122"/>
                <a:cs typeface="Calibri" panose="020F0502020204030204" pitchFamily="34" charset="0"/>
              </a:rPr>
              <a:t>a critical measure of how effectively headlines convert impressions into clicks.</a:t>
            </a:r>
            <a:endParaRPr lang="en-US" dirty="0">
              <a:latin typeface="Calibri" panose="020F0502020204030204" pitchFamily="34" charset="0"/>
              <a:cs typeface="Calibri" panose="020F0502020204030204" pitchFamily="34" charset="0"/>
            </a:endParaRPr>
          </a:p>
        </p:txBody>
      </p:sp>
      <p:sp>
        <p:nvSpPr>
          <p:cNvPr id="6" name="Text 4"/>
          <p:cNvSpPr/>
          <p:nvPr/>
        </p:nvSpPr>
        <p:spPr>
          <a:xfrm>
            <a:off x="793790" y="5500092"/>
            <a:ext cx="13042821" cy="635079"/>
          </a:xfrm>
          <a:prstGeom prst="rect">
            <a:avLst/>
          </a:prstGeom>
          <a:noFill/>
          <a:ln/>
        </p:spPr>
        <p:txBody>
          <a:bodyPr wrap="square" lIns="0" tIns="0" rIns="0" bIns="0" rtlCol="0" anchor="t"/>
          <a:lstStyle/>
          <a:p>
            <a:pPr marL="0" indent="0" algn="l">
              <a:lnSpc>
                <a:spcPts val="2500"/>
              </a:lnSpc>
              <a:buNone/>
            </a:pPr>
            <a:r>
              <a:rPr lang="en-US" dirty="0">
                <a:latin typeface="Calibri" panose="020F0502020204030204" pitchFamily="34" charset="0"/>
                <a:ea typeface="Heebo" pitchFamily="34" charset="-122"/>
                <a:cs typeface="Calibri" panose="020F0502020204030204" pitchFamily="34" charset="0"/>
              </a:rPr>
              <a:t>This research explores whether Large Language Models (LLMs) can revolutionize how media companies conduct content experimentation, potentially reducing costs while maintaining or improving the quality of headline selection.</a:t>
            </a:r>
            <a:endParaRPr lang="en-US" dirty="0">
              <a:latin typeface="Calibri" panose="020F0502020204030204" pitchFamily="34" charset="0"/>
              <a:cs typeface="Calibri" panose="020F0502020204030204" pitchFamily="34" charset="0"/>
            </a:endParaRPr>
          </a:p>
        </p:txBody>
      </p:sp>
      <p:sp>
        <p:nvSpPr>
          <p:cNvPr id="10" name="Text 1">
            <a:extLst>
              <a:ext uri="{FF2B5EF4-FFF2-40B4-BE49-F238E27FC236}">
                <a16:creationId xmlns:a16="http://schemas.microsoft.com/office/drawing/2014/main" id="{E4DECEC3-FD7C-46AF-65BD-1F7EABC5A0CF}"/>
              </a:ext>
            </a:extLst>
          </p:cNvPr>
          <p:cNvSpPr/>
          <p:nvPr/>
        </p:nvSpPr>
        <p:spPr>
          <a:xfrm>
            <a:off x="7315199" y="2410523"/>
            <a:ext cx="6521409" cy="351917"/>
          </a:xfrm>
          <a:prstGeom prst="rect">
            <a:avLst/>
          </a:prstGeom>
          <a:noFill/>
          <a:ln/>
        </p:spPr>
        <p:txBody>
          <a:bodyPr wrap="none" lIns="0" tIns="0" rIns="0" bIns="0" rtlCol="0" anchor="t"/>
          <a:lstStyle/>
          <a:p>
            <a:pPr>
              <a:lnSpc>
                <a:spcPts val="2500"/>
              </a:lnSpc>
            </a:pPr>
            <a:r>
              <a:rPr lang="en-US" sz="1600" dirty="0">
                <a:latin typeface="Calibri" panose="020F0502020204030204" pitchFamily="34" charset="0"/>
                <a:cs typeface="Calibri" panose="020F0502020204030204" pitchFamily="34" charset="0"/>
              </a:rPr>
              <a:t>Replicated and Presented by Xizhi Liu and Shaoqiang Liu </a:t>
            </a:r>
            <a:r>
              <a:rPr lang="en-US" altLang="zh-CN" sz="1600" dirty="0">
                <a:latin typeface="Calibri" panose="020F0502020204030204" pitchFamily="34" charset="0"/>
                <a:ea typeface="Heebo" pitchFamily="34" charset="-122"/>
                <a:cs typeface="Calibri" panose="020F0502020204030204" pitchFamily="34" charset="0"/>
              </a:rPr>
              <a:t>| DOTE6635, 2026</a:t>
            </a:r>
            <a:r>
              <a:rPr lang="en-US" sz="1600" dirty="0">
                <a:latin typeface="Calibri" panose="020F0502020204030204" pitchFamily="34" charset="0"/>
                <a:cs typeface="Calibri" panose="020F0502020204030204" pitchFamily="34"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545783"/>
            <a:ext cx="8305205" cy="589121"/>
          </a:xfrm>
          <a:prstGeom prst="rect">
            <a:avLst/>
          </a:prstGeom>
          <a:noFill/>
          <a:ln/>
        </p:spPr>
        <p:txBody>
          <a:bodyPr wrap="none" lIns="0" tIns="0" rIns="0" bIns="0" rtlCol="0" anchor="t"/>
          <a:lstStyle/>
          <a:p>
            <a:pPr marL="0" indent="0" algn="l">
              <a:lnSpc>
                <a:spcPts val="46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Traditional Approaches to Content Testing</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1929884" y="1580218"/>
            <a:ext cx="4003953" cy="353378"/>
          </a:xfrm>
          <a:prstGeom prst="rect">
            <a:avLst/>
          </a:prstGeom>
          <a:noFill/>
          <a:ln/>
        </p:spPr>
        <p:txBody>
          <a:bodyPr wrap="none" lIns="0" tIns="0" rIns="0" bIns="0" rtlCol="0" anchor="t"/>
          <a:lstStyle/>
          <a:p>
            <a:pPr marL="0" indent="0" algn="l">
              <a:lnSpc>
                <a:spcPts val="275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A/B Testing: Explore-and-Commit</a:t>
            </a:r>
            <a:endParaRPr lang="en-US" sz="2400" dirty="0">
              <a:latin typeface="Calibri" panose="020F0502020204030204" pitchFamily="34" charset="0"/>
              <a:cs typeface="Calibri" panose="020F0502020204030204" pitchFamily="34" charset="0"/>
            </a:endParaRPr>
          </a:p>
        </p:txBody>
      </p:sp>
      <p:sp>
        <p:nvSpPr>
          <p:cNvPr id="4" name="Text 2"/>
          <p:cNvSpPr/>
          <p:nvPr/>
        </p:nvSpPr>
        <p:spPr>
          <a:xfrm>
            <a:off x="793790" y="2115026"/>
            <a:ext cx="6291382" cy="1471017"/>
          </a:xfrm>
          <a:prstGeom prst="rect">
            <a:avLst/>
          </a:prstGeom>
          <a:noFill/>
          <a:ln/>
        </p:spPr>
        <p:txBody>
          <a:bodyPr wrap="square" lIns="0" tIns="0" rIns="0" bIns="0" rtlCol="0" anchor="t"/>
          <a:lstStyle/>
          <a:p>
            <a:pPr marL="0" indent="0" algn="l">
              <a:lnSpc>
                <a:spcPts val="2300"/>
              </a:lnSpc>
              <a:buNone/>
            </a:pPr>
            <a:r>
              <a:rPr lang="en-US" sz="1600" dirty="0">
                <a:latin typeface="Calibri" panose="020F0502020204030204" pitchFamily="34" charset="0"/>
                <a:ea typeface="Heebo" pitchFamily="34" charset="-122"/>
                <a:cs typeface="Calibri" panose="020F0502020204030204" pitchFamily="34" charset="0"/>
              </a:rPr>
              <a:t>The traditional A/B testing framework uses fixed traffic allocation across treatment arms. After an exploration phase, the publisher commits to the best-performing arm. This approach is widely used throughout the publishing industry, exemplified by platforms like the New York Times ABRA system and Upworthy</a:t>
            </a:r>
            <a:r>
              <a:rPr lang="zh-CN" altLang="en-US" sz="1600">
                <a:latin typeface="Calibri" panose="020F0502020204030204" pitchFamily="34" charset="0"/>
                <a:ea typeface="Heebo" pitchFamily="34" charset="-122"/>
                <a:cs typeface="Calibri" panose="020F0502020204030204" pitchFamily="34" charset="0"/>
              </a:rPr>
              <a:t>’</a:t>
            </a:r>
            <a:r>
              <a:rPr lang="en-US" sz="1600" dirty="0">
                <a:latin typeface="Calibri" panose="020F0502020204030204" pitchFamily="34" charset="0"/>
                <a:ea typeface="Heebo" pitchFamily="34" charset="-122"/>
                <a:cs typeface="Calibri" panose="020F0502020204030204" pitchFamily="34" charset="0"/>
              </a:rPr>
              <a:t>s headline testing methodology.</a:t>
            </a:r>
            <a:endParaRPr lang="en-US" sz="1600" dirty="0">
              <a:latin typeface="Calibri" panose="020F0502020204030204" pitchFamily="34" charset="0"/>
              <a:cs typeface="Calibri" panose="020F0502020204030204" pitchFamily="34" charset="0"/>
            </a:endParaRPr>
          </a:p>
        </p:txBody>
      </p:sp>
      <p:sp>
        <p:nvSpPr>
          <p:cNvPr id="5" name="Text 3"/>
          <p:cNvSpPr/>
          <p:nvPr/>
        </p:nvSpPr>
        <p:spPr>
          <a:xfrm>
            <a:off x="793790" y="3765113"/>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Advantages</a:t>
            </a:r>
            <a:endParaRPr lang="en-US" sz="2000" dirty="0">
              <a:latin typeface="Calibri" panose="020F0502020204030204" pitchFamily="34" charset="0"/>
              <a:cs typeface="Calibri" panose="020F0502020204030204" pitchFamily="34" charset="0"/>
            </a:endParaRPr>
          </a:p>
        </p:txBody>
      </p:sp>
      <p:sp>
        <p:nvSpPr>
          <p:cNvPr id="6" name="Text 4"/>
          <p:cNvSpPr/>
          <p:nvPr/>
        </p:nvSpPr>
        <p:spPr>
          <a:xfrm>
            <a:off x="793790" y="4238863"/>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Statistically unbiased estimates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Reliable inference with sufficient traffic volume</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Simple interpretation for stakeholders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Well-understood statistical properties</a:t>
            </a:r>
            <a:endParaRPr lang="en-US" sz="1600" dirty="0">
              <a:latin typeface="Calibri" panose="020F0502020204030204" pitchFamily="34" charset="0"/>
              <a:cs typeface="Calibri" panose="020F0502020204030204" pitchFamily="34" charset="0"/>
            </a:endParaRPr>
          </a:p>
        </p:txBody>
      </p:sp>
      <p:sp>
        <p:nvSpPr>
          <p:cNvPr id="7" name="Text 5"/>
          <p:cNvSpPr/>
          <p:nvPr/>
        </p:nvSpPr>
        <p:spPr>
          <a:xfrm>
            <a:off x="793790" y="5782628"/>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Limitations</a:t>
            </a:r>
            <a:endParaRPr lang="en-US" sz="2000" dirty="0">
              <a:latin typeface="Calibri" panose="020F0502020204030204" pitchFamily="34" charset="0"/>
              <a:cs typeface="Calibri" panose="020F0502020204030204" pitchFamily="34" charset="0"/>
            </a:endParaRPr>
          </a:p>
        </p:txBody>
      </p:sp>
      <p:sp>
        <p:nvSpPr>
          <p:cNvPr id="8" name="Text 6"/>
          <p:cNvSpPr/>
          <p:nvPr/>
        </p:nvSpPr>
        <p:spPr>
          <a:xfrm>
            <a:off x="793790" y="6256377"/>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Equal traffic allocation to poor-performing arms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High regret during exploration phase</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Particularly problematic for short-lived content like news articles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Requires large sample sizes for statistical power</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8601730" y="1580218"/>
            <a:ext cx="4193619" cy="353378"/>
          </a:xfrm>
          <a:prstGeom prst="rect">
            <a:avLst/>
          </a:prstGeom>
          <a:noFill/>
          <a:ln/>
        </p:spPr>
        <p:txBody>
          <a:bodyPr wrap="none" lIns="0" tIns="0" rIns="0" bIns="0" rtlCol="0" anchor="t"/>
          <a:lstStyle/>
          <a:p>
            <a:pPr marL="0" indent="0" algn="l">
              <a:lnSpc>
                <a:spcPts val="275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Online Learning: Bandit Algorithms</a:t>
            </a:r>
            <a:endParaRPr lang="en-US" sz="2400" dirty="0">
              <a:latin typeface="Calibri" panose="020F0502020204030204" pitchFamily="34" charset="0"/>
              <a:cs typeface="Calibri" panose="020F0502020204030204" pitchFamily="34" charset="0"/>
            </a:endParaRPr>
          </a:p>
        </p:txBody>
      </p:sp>
      <p:sp>
        <p:nvSpPr>
          <p:cNvPr id="10" name="Text 8"/>
          <p:cNvSpPr/>
          <p:nvPr/>
        </p:nvSpPr>
        <p:spPr>
          <a:xfrm>
            <a:off x="7552849" y="2115026"/>
            <a:ext cx="6291382" cy="1176814"/>
          </a:xfrm>
          <a:prstGeom prst="rect">
            <a:avLst/>
          </a:prstGeom>
          <a:noFill/>
          <a:ln/>
        </p:spPr>
        <p:txBody>
          <a:bodyPr wrap="square" lIns="0" tIns="0" rIns="0" bIns="0" rtlCol="0" anchor="t"/>
          <a:lstStyle/>
          <a:p>
            <a:pPr marL="0" indent="0" algn="l">
              <a:lnSpc>
                <a:spcPts val="2300"/>
              </a:lnSpc>
              <a:buNone/>
            </a:pPr>
            <a:r>
              <a:rPr lang="en-US" sz="1600" dirty="0">
                <a:latin typeface="Calibri" panose="020F0502020204030204" pitchFamily="34" charset="0"/>
                <a:ea typeface="Heebo" pitchFamily="34" charset="-122"/>
                <a:cs typeface="Calibri" panose="020F0502020204030204" pitchFamily="34" charset="0"/>
              </a:rPr>
              <a:t>Modern online learning approaches use multi-armed bandit algorithms that dynamically allocate traffic based on past performance, content features, and uncertainty quantification. Major platforms like Yahoo News and the New York Times have implemented contextual bandit frameworks.</a:t>
            </a:r>
            <a:endParaRPr lang="en-US" sz="1600" dirty="0">
              <a:latin typeface="Calibri" panose="020F0502020204030204" pitchFamily="34" charset="0"/>
              <a:cs typeface="Calibri" panose="020F0502020204030204" pitchFamily="34" charset="0"/>
            </a:endParaRPr>
          </a:p>
        </p:txBody>
      </p:sp>
      <p:sp>
        <p:nvSpPr>
          <p:cNvPr id="11" name="Text 9"/>
          <p:cNvSpPr/>
          <p:nvPr/>
        </p:nvSpPr>
        <p:spPr>
          <a:xfrm>
            <a:off x="7552849" y="3470910"/>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Advantages</a:t>
            </a:r>
            <a:endParaRPr lang="en-US" sz="1850" dirty="0">
              <a:latin typeface="Calibri" panose="020F0502020204030204" pitchFamily="34" charset="0"/>
              <a:cs typeface="Calibri" panose="020F0502020204030204" pitchFamily="34" charset="0"/>
            </a:endParaRPr>
          </a:p>
        </p:txBody>
      </p:sp>
      <p:sp>
        <p:nvSpPr>
          <p:cNvPr id="12" name="Text 10"/>
          <p:cNvSpPr/>
          <p:nvPr/>
        </p:nvSpPr>
        <p:spPr>
          <a:xfrm>
            <a:off x="7552849" y="3944660"/>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Lower regret compared to traditional A/B tests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Gradually reduce exploration as performance becomes clear</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Faster convergence to best-performing arms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Continuous optimization without discrete phases</a:t>
            </a:r>
            <a:endParaRPr lang="en-US" sz="1600" dirty="0">
              <a:latin typeface="Calibri" panose="020F0502020204030204" pitchFamily="34" charset="0"/>
              <a:cs typeface="Calibri" panose="020F0502020204030204" pitchFamily="34" charset="0"/>
            </a:endParaRPr>
          </a:p>
        </p:txBody>
      </p:sp>
      <p:sp>
        <p:nvSpPr>
          <p:cNvPr id="13" name="Text 11"/>
          <p:cNvSpPr/>
          <p:nvPr/>
        </p:nvSpPr>
        <p:spPr>
          <a:xfrm>
            <a:off x="7552849" y="5488424"/>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Limitations</a:t>
            </a:r>
            <a:endParaRPr lang="en-US" sz="2000" dirty="0">
              <a:latin typeface="Calibri" panose="020F0502020204030204" pitchFamily="34" charset="0"/>
              <a:cs typeface="Calibri" panose="020F0502020204030204" pitchFamily="34" charset="0"/>
            </a:endParaRPr>
          </a:p>
        </p:txBody>
      </p:sp>
      <p:sp>
        <p:nvSpPr>
          <p:cNvPr id="14" name="Text 12"/>
          <p:cNvSpPr/>
          <p:nvPr/>
        </p:nvSpPr>
        <p:spPr>
          <a:xfrm>
            <a:off x="7552849" y="5962174"/>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Cold-start problem: arms initialized as equally good</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Early traffic potentially wasted on inferior options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Risk of converging to suboptimal arms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Designed for large-traffic regimes, not limited horizons</a:t>
            </a:r>
            <a:endParaRPr lang="en-US" sz="1600" dirty="0">
              <a:latin typeface="Calibri" panose="020F0502020204030204" pitchFamily="34" charset="0"/>
              <a:cs typeface="Calibri" panose="020F0502020204030204" pitchFamily="34" charset="0"/>
            </a:endParaRPr>
          </a:p>
        </p:txBody>
      </p:sp>
      <p:sp>
        <p:nvSpPr>
          <p:cNvPr id="15" name="圆角矩形 14">
            <a:extLst>
              <a:ext uri="{FF2B5EF4-FFF2-40B4-BE49-F238E27FC236}">
                <a16:creationId xmlns:a16="http://schemas.microsoft.com/office/drawing/2014/main" id="{CDCD360D-DED5-1059-166C-472214B9485B}"/>
              </a:ext>
            </a:extLst>
          </p:cNvPr>
          <p:cNvSpPr/>
          <p:nvPr/>
        </p:nvSpPr>
        <p:spPr>
          <a:xfrm>
            <a:off x="786170" y="1580218"/>
            <a:ext cx="6291382" cy="35337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
        <p:nvSpPr>
          <p:cNvPr id="16" name="圆角矩形 15">
            <a:extLst>
              <a:ext uri="{FF2B5EF4-FFF2-40B4-BE49-F238E27FC236}">
                <a16:creationId xmlns:a16="http://schemas.microsoft.com/office/drawing/2014/main" id="{747B5758-AE70-AE02-EDFB-4960C6010A94}"/>
              </a:ext>
            </a:extLst>
          </p:cNvPr>
          <p:cNvSpPr/>
          <p:nvPr/>
        </p:nvSpPr>
        <p:spPr>
          <a:xfrm>
            <a:off x="7503081" y="1580218"/>
            <a:ext cx="6291382" cy="35337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6526" y="559356"/>
            <a:ext cx="3218378" cy="394335"/>
          </a:xfrm>
          <a:prstGeom prst="rect">
            <a:avLst/>
          </a:prstGeom>
          <a:noFill/>
          <a:ln/>
        </p:spPr>
        <p:txBody>
          <a:bodyPr wrap="none" lIns="0" tIns="0" rIns="0" bIns="0" rtlCol="0" anchor="t"/>
          <a:lstStyle/>
          <a:p>
            <a:pPr marL="0" indent="0" algn="l">
              <a:lnSpc>
                <a:spcPts val="31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Core Research Questions</a:t>
            </a:r>
            <a:endParaRPr lang="en-US" sz="3600" b="1" dirty="0">
              <a:latin typeface="Calibri" panose="020F0502020204030204" pitchFamily="34" charset="0"/>
              <a:cs typeface="Calibri" panose="020F0502020204030204" pitchFamily="34" charset="0"/>
            </a:endParaRPr>
          </a:p>
        </p:txBody>
      </p:sp>
      <p:sp>
        <p:nvSpPr>
          <p:cNvPr id="3" name="Shape 1"/>
          <p:cNvSpPr/>
          <p:nvPr/>
        </p:nvSpPr>
        <p:spPr>
          <a:xfrm>
            <a:off x="776526" y="1114187"/>
            <a:ext cx="283845" cy="283845"/>
          </a:xfrm>
          <a:prstGeom prst="roundRect">
            <a:avLst>
              <a:gd name="adj" fmla="val 6669"/>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4" name="Text 2"/>
          <p:cNvSpPr/>
          <p:nvPr/>
        </p:nvSpPr>
        <p:spPr>
          <a:xfrm>
            <a:off x="823853" y="1137821"/>
            <a:ext cx="189190" cy="236577"/>
          </a:xfrm>
          <a:prstGeom prst="rect">
            <a:avLst/>
          </a:prstGeom>
          <a:noFill/>
          <a:ln/>
        </p:spPr>
        <p:txBody>
          <a:bodyPr wrap="none" lIns="0" tIns="0" rIns="0" bIns="0" rtlCol="0" anchor="ctr"/>
          <a:lstStyle/>
          <a:p>
            <a:pPr marL="0" indent="0" algn="ctr">
              <a:lnSpc>
                <a:spcPts val="1450"/>
              </a:lnSpc>
              <a:buNone/>
            </a:pPr>
            <a:r>
              <a:rPr lang="en-US" sz="1600" dirty="0">
                <a:latin typeface="Calibri" panose="020F0502020204030204" pitchFamily="34" charset="0"/>
                <a:ea typeface="Crimson Pro Semi Bold" pitchFamily="34" charset="-122"/>
                <a:cs typeface="Calibri" panose="020F0502020204030204" pitchFamily="34" charset="0"/>
              </a:rPr>
              <a:t>1</a:t>
            </a:r>
            <a:endParaRPr lang="en-US" sz="1600" dirty="0">
              <a:latin typeface="Calibri" panose="020F0502020204030204" pitchFamily="34" charset="0"/>
              <a:cs typeface="Calibri" panose="020F0502020204030204" pitchFamily="34" charset="0"/>
            </a:endParaRPr>
          </a:p>
        </p:txBody>
      </p:sp>
      <p:sp>
        <p:nvSpPr>
          <p:cNvPr id="5" name="Text 3"/>
          <p:cNvSpPr/>
          <p:nvPr/>
        </p:nvSpPr>
        <p:spPr>
          <a:xfrm>
            <a:off x="1140619" y="1157526"/>
            <a:ext cx="3928110" cy="394335"/>
          </a:xfrm>
          <a:prstGeom prst="rect">
            <a:avLst/>
          </a:prstGeom>
          <a:noFill/>
          <a:ln/>
        </p:spPr>
        <p:txBody>
          <a:bodyPr wrap="square" lIns="0" tIns="0" rIns="0" bIns="0" rtlCol="0" anchor="t"/>
          <a:lstStyle/>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Can LLMs directly predict which headline is most appealing?</a:t>
            </a:r>
            <a:endParaRPr lang="en-US" sz="2000" dirty="0">
              <a:latin typeface="Calibri" panose="020F0502020204030204" pitchFamily="34" charset="0"/>
              <a:cs typeface="Calibri" panose="020F0502020204030204" pitchFamily="34" charset="0"/>
            </a:endParaRPr>
          </a:p>
        </p:txBody>
      </p:sp>
      <p:sp>
        <p:nvSpPr>
          <p:cNvPr id="6" name="Text 4"/>
          <p:cNvSpPr/>
          <p:nvPr/>
        </p:nvSpPr>
        <p:spPr>
          <a:xfrm>
            <a:off x="1140620" y="1901965"/>
            <a:ext cx="3928110" cy="495419"/>
          </a:xfrm>
          <a:prstGeom prst="rect">
            <a:avLst/>
          </a:prstGeom>
          <a:noFill/>
          <a:ln/>
        </p:spPr>
        <p:txBody>
          <a:bodyPr wrap="square" lIns="0" tIns="0" rIns="0" bIns="0" rtlCol="0" anchor="t"/>
          <a:lstStyle/>
          <a:p>
            <a:pPr marL="0" indent="0" algn="l">
              <a:buNone/>
            </a:pPr>
            <a:r>
              <a:rPr lang="en-US" sz="1200" dirty="0">
                <a:latin typeface="Calibri" panose="020F0502020204030204" pitchFamily="34" charset="0"/>
                <a:ea typeface="Heebo" pitchFamily="34" charset="-122"/>
                <a:cs typeface="Calibri" panose="020F0502020204030204" pitchFamily="34" charset="0"/>
              </a:rPr>
              <a:t>Is it possible to leverage the semantic understanding capabilities of large language models to predict human preferences without extensive experimentation?</a:t>
            </a:r>
            <a:endParaRPr lang="en-US" sz="1200" dirty="0">
              <a:latin typeface="Calibri" panose="020F0502020204030204" pitchFamily="34" charset="0"/>
              <a:cs typeface="Calibri" panose="020F0502020204030204" pitchFamily="34" charset="0"/>
            </a:endParaRPr>
          </a:p>
        </p:txBody>
      </p:sp>
      <p:sp>
        <p:nvSpPr>
          <p:cNvPr id="7" name="Shape 5"/>
          <p:cNvSpPr/>
          <p:nvPr/>
        </p:nvSpPr>
        <p:spPr>
          <a:xfrm>
            <a:off x="5168979" y="1114187"/>
            <a:ext cx="283845" cy="283845"/>
          </a:xfrm>
          <a:prstGeom prst="roundRect">
            <a:avLst>
              <a:gd name="adj" fmla="val 6669"/>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8" name="Text 6"/>
          <p:cNvSpPr/>
          <p:nvPr/>
        </p:nvSpPr>
        <p:spPr>
          <a:xfrm>
            <a:off x="5216307" y="1137821"/>
            <a:ext cx="189190" cy="236577"/>
          </a:xfrm>
          <a:prstGeom prst="rect">
            <a:avLst/>
          </a:prstGeom>
          <a:noFill/>
          <a:ln/>
        </p:spPr>
        <p:txBody>
          <a:bodyPr wrap="none" lIns="0" tIns="0" rIns="0" bIns="0" rtlCol="0" anchor="ctr"/>
          <a:lstStyle/>
          <a:p>
            <a:pPr marL="0" indent="0" algn="ctr">
              <a:lnSpc>
                <a:spcPts val="1450"/>
              </a:lnSpc>
              <a:buNone/>
            </a:pPr>
            <a:r>
              <a:rPr lang="en-US" sz="1600" dirty="0">
                <a:latin typeface="Calibri" panose="020F0502020204030204" pitchFamily="34" charset="0"/>
                <a:ea typeface="Crimson Pro Semi Bold" pitchFamily="34" charset="-122"/>
                <a:cs typeface="Calibri" panose="020F0502020204030204" pitchFamily="34" charset="0"/>
              </a:rPr>
              <a:t>2</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5533073" y="1157526"/>
            <a:ext cx="2663309" cy="197168"/>
          </a:xfrm>
          <a:prstGeom prst="rect">
            <a:avLst/>
          </a:prstGeom>
          <a:noFill/>
          <a:ln/>
        </p:spPr>
        <p:txBody>
          <a:bodyPr wrap="none" lIns="0" tIns="0" rIns="0" bIns="0" rtlCol="0" anchor="t"/>
          <a:lstStyle/>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Can LLMs reduce experimentation</a:t>
            </a:r>
          </a:p>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costs?</a:t>
            </a:r>
            <a:endParaRPr lang="en-US" sz="2000" dirty="0">
              <a:latin typeface="Calibri" panose="020F0502020204030204" pitchFamily="34" charset="0"/>
              <a:cs typeface="Calibri" panose="020F0502020204030204" pitchFamily="34" charset="0"/>
            </a:endParaRPr>
          </a:p>
        </p:txBody>
      </p:sp>
      <p:sp>
        <p:nvSpPr>
          <p:cNvPr id="10" name="Text 8"/>
          <p:cNvSpPr/>
          <p:nvPr/>
        </p:nvSpPr>
        <p:spPr>
          <a:xfrm>
            <a:off x="5533073" y="1901965"/>
            <a:ext cx="3928229" cy="495419"/>
          </a:xfrm>
          <a:prstGeom prst="rect">
            <a:avLst/>
          </a:prstGeom>
          <a:noFill/>
          <a:ln/>
        </p:spPr>
        <p:txBody>
          <a:bodyPr wrap="square" lIns="0" tIns="0" rIns="0" bIns="0" rtlCol="0" anchor="t"/>
          <a:lstStyle/>
          <a:p>
            <a:pPr marL="0" indent="0" algn="l">
              <a:buNone/>
            </a:pPr>
            <a:r>
              <a:rPr lang="en-US" sz="1200" dirty="0">
                <a:latin typeface="Calibri" panose="020F0502020204030204" pitchFamily="34" charset="0"/>
                <a:ea typeface="Heebo" pitchFamily="34" charset="-122"/>
                <a:cs typeface="Calibri" panose="020F0502020204030204" pitchFamily="34" charset="0"/>
              </a:rPr>
              <a:t>Can LLM-assisted methods achieve comparable or better performance than traditional approaches while requiring fewer impressions and less traffic allocation to inferior options?</a:t>
            </a:r>
            <a:endParaRPr lang="en-US" sz="1200" dirty="0">
              <a:latin typeface="Calibri" panose="020F0502020204030204" pitchFamily="34" charset="0"/>
              <a:cs typeface="Calibri" panose="020F0502020204030204" pitchFamily="34" charset="0"/>
            </a:endParaRPr>
          </a:p>
        </p:txBody>
      </p:sp>
      <p:sp>
        <p:nvSpPr>
          <p:cNvPr id="11" name="Shape 9"/>
          <p:cNvSpPr/>
          <p:nvPr/>
        </p:nvSpPr>
        <p:spPr>
          <a:xfrm>
            <a:off x="9561552" y="1114187"/>
            <a:ext cx="283845" cy="283845"/>
          </a:xfrm>
          <a:prstGeom prst="roundRect">
            <a:avLst>
              <a:gd name="adj" fmla="val 6669"/>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12" name="Text 10"/>
          <p:cNvSpPr/>
          <p:nvPr/>
        </p:nvSpPr>
        <p:spPr>
          <a:xfrm>
            <a:off x="9608880" y="1137821"/>
            <a:ext cx="189190" cy="236577"/>
          </a:xfrm>
          <a:prstGeom prst="rect">
            <a:avLst/>
          </a:prstGeom>
          <a:noFill/>
          <a:ln/>
        </p:spPr>
        <p:txBody>
          <a:bodyPr wrap="none" lIns="0" tIns="0" rIns="0" bIns="0" rtlCol="0" anchor="ctr"/>
          <a:lstStyle/>
          <a:p>
            <a:pPr marL="0" indent="0" algn="ctr">
              <a:lnSpc>
                <a:spcPts val="1450"/>
              </a:lnSpc>
              <a:buNone/>
            </a:pPr>
            <a:r>
              <a:rPr lang="en-US" sz="1600" dirty="0">
                <a:latin typeface="Calibri" panose="020F0502020204030204" pitchFamily="34" charset="0"/>
                <a:ea typeface="Crimson Pro Semi Bold" pitchFamily="34" charset="-122"/>
                <a:cs typeface="Calibri" panose="020F0502020204030204" pitchFamily="34" charset="0"/>
              </a:rPr>
              <a:t>3</a:t>
            </a:r>
            <a:endParaRPr lang="en-US" sz="1600" dirty="0">
              <a:latin typeface="Calibri" panose="020F0502020204030204" pitchFamily="34" charset="0"/>
              <a:cs typeface="Calibri" panose="020F0502020204030204" pitchFamily="34" charset="0"/>
            </a:endParaRPr>
          </a:p>
        </p:txBody>
      </p:sp>
      <p:sp>
        <p:nvSpPr>
          <p:cNvPr id="13" name="Text 11"/>
          <p:cNvSpPr/>
          <p:nvPr/>
        </p:nvSpPr>
        <p:spPr>
          <a:xfrm>
            <a:off x="9925645" y="1157526"/>
            <a:ext cx="3327083" cy="197168"/>
          </a:xfrm>
          <a:prstGeom prst="rect">
            <a:avLst/>
          </a:prstGeom>
          <a:noFill/>
          <a:ln/>
        </p:spPr>
        <p:txBody>
          <a:bodyPr wrap="none" lIns="0" tIns="0" rIns="0" bIns="0" rtlCol="0" anchor="t"/>
          <a:lstStyle/>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Can LLMs replace traditional</a:t>
            </a:r>
          </a:p>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experiments entirely?</a:t>
            </a:r>
            <a:endParaRPr lang="en-US" sz="2000" dirty="0">
              <a:latin typeface="Calibri" panose="020F0502020204030204" pitchFamily="34" charset="0"/>
              <a:cs typeface="Calibri" panose="020F0502020204030204" pitchFamily="34" charset="0"/>
            </a:endParaRPr>
          </a:p>
        </p:txBody>
      </p:sp>
      <p:sp>
        <p:nvSpPr>
          <p:cNvPr id="14" name="Text 12"/>
          <p:cNvSpPr/>
          <p:nvPr/>
        </p:nvSpPr>
        <p:spPr>
          <a:xfrm>
            <a:off x="9925645" y="1901965"/>
            <a:ext cx="3928229" cy="495419"/>
          </a:xfrm>
          <a:prstGeom prst="rect">
            <a:avLst/>
          </a:prstGeom>
          <a:noFill/>
          <a:ln/>
        </p:spPr>
        <p:txBody>
          <a:bodyPr wrap="square" lIns="0" tIns="0" rIns="0" bIns="0" rtlCol="0" anchor="t"/>
          <a:lstStyle/>
          <a:p>
            <a:pPr marL="0" indent="0" algn="l">
              <a:buNone/>
            </a:pPr>
            <a:r>
              <a:rPr lang="en-US" sz="1200" dirty="0">
                <a:latin typeface="Calibri" panose="020F0502020204030204" pitchFamily="34" charset="0"/>
                <a:ea typeface="Heebo" pitchFamily="34" charset="-122"/>
                <a:cs typeface="Calibri" panose="020F0502020204030204" pitchFamily="34" charset="0"/>
              </a:rPr>
              <a:t>Is there a scenario where LLM-based prediction becomes sufficiently accurate that it obviates the need for A/B testing or bandit algorithms altogether?</a:t>
            </a:r>
            <a:endParaRPr lang="en-US" sz="1200" dirty="0">
              <a:latin typeface="Calibri" panose="020F0502020204030204" pitchFamily="34" charset="0"/>
              <a:cs typeface="Calibri" panose="020F0502020204030204" pitchFamily="34" charset="0"/>
            </a:endParaRPr>
          </a:p>
        </p:txBody>
      </p:sp>
      <p:sp>
        <p:nvSpPr>
          <p:cNvPr id="15" name="Shape 13"/>
          <p:cNvSpPr/>
          <p:nvPr/>
        </p:nvSpPr>
        <p:spPr>
          <a:xfrm>
            <a:off x="776524" y="2597448"/>
            <a:ext cx="13077349" cy="23336"/>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16" name="Text 14"/>
          <p:cNvSpPr/>
          <p:nvPr/>
        </p:nvSpPr>
        <p:spPr>
          <a:xfrm>
            <a:off x="1013043" y="2984670"/>
            <a:ext cx="5681782" cy="315516"/>
          </a:xfrm>
          <a:prstGeom prst="rect">
            <a:avLst/>
          </a:prstGeom>
          <a:noFill/>
          <a:ln/>
        </p:spPr>
        <p:txBody>
          <a:bodyPr wrap="none" lIns="0" tIns="0" rIns="0" bIns="0" rtlCol="0" anchor="t"/>
          <a:lstStyle/>
          <a:p>
            <a:pPr marL="0" indent="0" algn="l">
              <a:lnSpc>
                <a:spcPts val="245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Dataset: Upworthy Headline Experiments (2013–2015)</a:t>
            </a:r>
            <a:endParaRPr lang="en-US" sz="2400" dirty="0">
              <a:latin typeface="Calibri" panose="020F0502020204030204" pitchFamily="34" charset="0"/>
              <a:cs typeface="Calibri" panose="020F0502020204030204" pitchFamily="34" charset="0"/>
            </a:endParaRPr>
          </a:p>
        </p:txBody>
      </p:sp>
      <p:sp>
        <p:nvSpPr>
          <p:cNvPr id="17" name="Text 15"/>
          <p:cNvSpPr/>
          <p:nvPr/>
        </p:nvSpPr>
        <p:spPr>
          <a:xfrm>
            <a:off x="1013043" y="3550503"/>
            <a:ext cx="7723227" cy="660559"/>
          </a:xfrm>
          <a:prstGeom prst="rect">
            <a:avLst/>
          </a:prstGeom>
          <a:noFill/>
          <a:ln/>
        </p:spPr>
        <p:txBody>
          <a:bodyPr wrap="square" lIns="0" tIns="0" rIns="0" bIns="0" rtlCol="0" anchor="t"/>
          <a:lstStyle/>
          <a:p>
            <a:pPr marL="0" indent="0" algn="l">
              <a:buNone/>
            </a:pPr>
            <a:r>
              <a:rPr lang="en-US" sz="1600" dirty="0">
                <a:latin typeface="Calibri" panose="020F0502020204030204" pitchFamily="34" charset="0"/>
                <a:ea typeface="Heebo" pitchFamily="34" charset="-122"/>
                <a:cs typeface="Calibri" panose="020F0502020204030204" pitchFamily="34" charset="0"/>
              </a:rPr>
              <a:t>The researchers analyzed headline testing data from Upworthy, a digital media company known for its rigorous experimentation practices. The original dataset contained 32,487 A/B tests across 150,817 packages, with 538 million impressions generating 8.18 million clicks. After filtering to headline-specific tests, the analysis focused on </a:t>
            </a:r>
            <a:r>
              <a:rPr lang="en-US" sz="1600" b="1" dirty="0">
                <a:latin typeface="Calibri" panose="020F0502020204030204" pitchFamily="34" charset="0"/>
                <a:ea typeface="Heebo" pitchFamily="34" charset="-122"/>
                <a:cs typeface="Calibri" panose="020F0502020204030204" pitchFamily="34" charset="0"/>
              </a:rPr>
              <a:t>17,681 tests</a:t>
            </a:r>
            <a:r>
              <a:rPr lang="en-US" sz="1600" dirty="0">
                <a:latin typeface="Calibri" panose="020F0502020204030204" pitchFamily="34" charset="0"/>
                <a:ea typeface="Heebo" pitchFamily="34" charset="-122"/>
                <a:cs typeface="Calibri" panose="020F0502020204030204" pitchFamily="34" charset="0"/>
              </a:rPr>
              <a:t> covering </a:t>
            </a:r>
            <a:r>
              <a:rPr lang="en-US" sz="1600" b="1" dirty="0">
                <a:latin typeface="Calibri" panose="020F0502020204030204" pitchFamily="34" charset="0"/>
                <a:ea typeface="Heebo" pitchFamily="34" charset="-122"/>
                <a:cs typeface="Calibri" panose="020F0502020204030204" pitchFamily="34" charset="0"/>
              </a:rPr>
              <a:t>77,245 headlines</a:t>
            </a:r>
            <a:r>
              <a:rPr lang="en-US" sz="1600" dirty="0">
                <a:latin typeface="Calibri" panose="020F0502020204030204" pitchFamily="34" charset="0"/>
                <a:ea typeface="Heebo" pitchFamily="34" charset="-122"/>
                <a:cs typeface="Calibri" panose="020F0502020204030204" pitchFamily="34" charset="0"/>
              </a:rPr>
              <a:t> with </a:t>
            </a:r>
            <a:r>
              <a:rPr lang="en-US" sz="1600" b="1" dirty="0">
                <a:latin typeface="Calibri" panose="020F0502020204030204" pitchFamily="34" charset="0"/>
                <a:ea typeface="Heebo" pitchFamily="34" charset="-122"/>
                <a:cs typeface="Calibri" panose="020F0502020204030204" pitchFamily="34" charset="0"/>
              </a:rPr>
              <a:t>277 million impressions</a:t>
            </a:r>
            <a:r>
              <a:rPr lang="en-US" sz="1600" dirty="0">
                <a:latin typeface="Calibri" panose="020F0502020204030204" pitchFamily="34" charset="0"/>
                <a:ea typeface="Heebo" pitchFamily="34" charset="-122"/>
                <a:cs typeface="Calibri" panose="020F0502020204030204" pitchFamily="34" charset="0"/>
              </a:rPr>
              <a:t> and </a:t>
            </a:r>
            <a:r>
              <a:rPr lang="en-US" sz="1600" b="1" dirty="0">
                <a:latin typeface="Calibri" panose="020F0502020204030204" pitchFamily="34" charset="0"/>
                <a:ea typeface="Heebo" pitchFamily="34" charset="-122"/>
                <a:cs typeface="Calibri" panose="020F0502020204030204" pitchFamily="34" charset="0"/>
              </a:rPr>
              <a:t>3.74 million clicks</a:t>
            </a:r>
            <a:r>
              <a:rPr lang="en-US" sz="1600" dirty="0">
                <a:latin typeface="Calibri" panose="020F0502020204030204" pitchFamily="34" charset="0"/>
                <a:ea typeface="Heebo" pitchFamily="34" charset="-122"/>
                <a:cs typeface="Calibri" panose="020F0502020204030204" pitchFamily="34" charset="0"/>
              </a:rPr>
              <a:t>. The average CTR across all tests was 1.52%, with an average of approximately 4.37 headlines per test.</a:t>
            </a:r>
            <a:endParaRPr lang="en-US" sz="1600" dirty="0">
              <a:latin typeface="Calibri" panose="020F0502020204030204" pitchFamily="34" charset="0"/>
              <a:cs typeface="Calibri" panose="020F0502020204030204" pitchFamily="34" charset="0"/>
            </a:endParaRPr>
          </a:p>
        </p:txBody>
      </p:sp>
      <p:sp>
        <p:nvSpPr>
          <p:cNvPr id="18" name="Text 16"/>
          <p:cNvSpPr/>
          <p:nvPr/>
        </p:nvSpPr>
        <p:spPr>
          <a:xfrm>
            <a:off x="1013043" y="5168861"/>
            <a:ext cx="7723227" cy="330279"/>
          </a:xfrm>
          <a:prstGeom prst="rect">
            <a:avLst/>
          </a:prstGeom>
          <a:noFill/>
          <a:ln/>
        </p:spPr>
        <p:txBody>
          <a:bodyPr wrap="square" lIns="0" tIns="0" rIns="0" bIns="0" rtlCol="0" anchor="t"/>
          <a:lstStyle/>
          <a:p>
            <a:r>
              <a:rPr lang="en-US" sz="1600" dirty="0">
                <a:latin typeface="Calibri" panose="020F0502020204030204" pitchFamily="34" charset="0"/>
                <a:ea typeface="Heebo" pitchFamily="34" charset="-122"/>
                <a:cs typeface="Calibri" panose="020F0502020204030204" pitchFamily="34" charset="0"/>
              </a:rPr>
              <a:t>The prediction task was straightforward: for each A/B test, identify the headline with the highest observed CTR. The data was split into 70% training, 10% for hyperparameter tuning, and 20% for testing to ensure robust evaluation of model performance.</a:t>
            </a:r>
            <a:r>
              <a:rPr lang="zh-CN" altLang="en-US" sz="1600" dirty="0">
                <a:latin typeface="Calibri" panose="020F0502020204030204" pitchFamily="34" charset="0"/>
                <a:ea typeface="Heebo" pitchFamily="34" charset="-122"/>
                <a:cs typeface="Calibri" panose="020F0502020204030204" pitchFamily="34" charset="0"/>
              </a:rPr>
              <a:t> </a:t>
            </a:r>
            <a:r>
              <a:rPr lang="en-US" altLang="zh-CN" sz="1600" dirty="0">
                <a:latin typeface="Calibri" panose="020F0502020204030204" pitchFamily="34" charset="0"/>
                <a:ea typeface="Heebo" pitchFamily="34" charset="-122"/>
                <a:cs typeface="Calibri" panose="020F0502020204030204" pitchFamily="34" charset="0"/>
              </a:rPr>
              <a:t>Specifically, in this section, </a:t>
            </a:r>
            <a:r>
              <a:rPr lang="en-US" altLang="zh-CN" sz="1600" b="1" dirty="0">
                <a:latin typeface="Calibri" panose="020F0502020204030204" pitchFamily="34" charset="0"/>
                <a:ea typeface="Heebo" pitchFamily="34" charset="-122"/>
                <a:cs typeface="Calibri" panose="020F0502020204030204" pitchFamily="34" charset="0"/>
              </a:rPr>
              <a:t>there</a:t>
            </a:r>
            <a:r>
              <a:rPr lang="zh-CN" altLang="en-US" sz="1600" b="1" dirty="0">
                <a:latin typeface="Calibri" panose="020F0502020204030204" pitchFamily="34" charset="0"/>
                <a:ea typeface="Heebo" pitchFamily="34" charset="-122"/>
                <a:cs typeface="Calibri" panose="020F0502020204030204" pitchFamily="34" charset="0"/>
              </a:rPr>
              <a:t> </a:t>
            </a:r>
            <a:r>
              <a:rPr lang="en-US" altLang="zh-CN" sz="1600" b="1" dirty="0">
                <a:latin typeface="Calibri" panose="020F0502020204030204" pitchFamily="34" charset="0"/>
                <a:ea typeface="Heebo" pitchFamily="34" charset="-122"/>
                <a:cs typeface="Calibri" panose="020F0502020204030204" pitchFamily="34" charset="0"/>
              </a:rPr>
              <a:t>were</a:t>
            </a:r>
            <a:r>
              <a:rPr lang="zh-CN" altLang="en-US" sz="1600" b="1" dirty="0">
                <a:latin typeface="Calibri" panose="020F0502020204030204" pitchFamily="34" charset="0"/>
                <a:ea typeface="Heebo" pitchFamily="34" charset="-122"/>
                <a:cs typeface="Calibri" panose="020F0502020204030204" pitchFamily="34" charset="0"/>
              </a:rPr>
              <a:t> </a:t>
            </a:r>
            <a:r>
              <a:rPr lang="en-US" altLang="zh-CN" sz="1600" b="1" dirty="0">
                <a:latin typeface="Calibri" panose="020F0502020204030204" pitchFamily="34" charset="0"/>
                <a:ea typeface="Heebo" pitchFamily="34" charset="-122"/>
                <a:cs typeface="Calibri" panose="020F0502020204030204" pitchFamily="34" charset="0"/>
              </a:rPr>
              <a:t>12,376 headline tests</a:t>
            </a:r>
            <a:r>
              <a:rPr lang="zh-CN" altLang="en-US" sz="1600" b="1" dirty="0">
                <a:latin typeface="Calibri" panose="020F0502020204030204" pitchFamily="34" charset="0"/>
                <a:ea typeface="Heebo" pitchFamily="34" charset="-122"/>
                <a:cs typeface="Calibri" panose="020F0502020204030204" pitchFamily="34" charset="0"/>
              </a:rPr>
              <a:t> </a:t>
            </a:r>
            <a:r>
              <a:rPr lang="en-US" altLang="zh-CN" sz="1600" b="1" dirty="0">
                <a:latin typeface="Calibri" panose="020F0502020204030204" pitchFamily="34" charset="0"/>
                <a:ea typeface="Heebo" pitchFamily="34" charset="-122"/>
                <a:cs typeface="Calibri" panose="020F0502020204030204" pitchFamily="34" charset="0"/>
              </a:rPr>
              <a:t>as a training set and 3,263 headline tests as a test set.</a:t>
            </a:r>
          </a:p>
        </p:txBody>
      </p:sp>
      <p:sp>
        <p:nvSpPr>
          <p:cNvPr id="19" name="Text 17"/>
          <p:cNvSpPr/>
          <p:nvPr/>
        </p:nvSpPr>
        <p:spPr>
          <a:xfrm>
            <a:off x="9698355" y="2981325"/>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17,681</a:t>
            </a:r>
            <a:endParaRPr lang="en-US" sz="3250" dirty="0">
              <a:latin typeface="Calibri" panose="020F0502020204030204" pitchFamily="34" charset="0"/>
              <a:cs typeface="Calibri" panose="020F0502020204030204" pitchFamily="34" charset="0"/>
            </a:endParaRPr>
          </a:p>
        </p:txBody>
      </p:sp>
      <p:sp>
        <p:nvSpPr>
          <p:cNvPr id="20" name="Text 18"/>
          <p:cNvSpPr/>
          <p:nvPr/>
        </p:nvSpPr>
        <p:spPr>
          <a:xfrm>
            <a:off x="10549533" y="3520797"/>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A/B Tests</a:t>
            </a:r>
            <a:endParaRPr lang="en-US" sz="1200" dirty="0">
              <a:latin typeface="Calibri" panose="020F0502020204030204" pitchFamily="34" charset="0"/>
              <a:cs typeface="Calibri" panose="020F0502020204030204" pitchFamily="34" charset="0"/>
            </a:endParaRPr>
          </a:p>
        </p:txBody>
      </p:sp>
      <p:sp>
        <p:nvSpPr>
          <p:cNvPr id="21" name="Text 19"/>
          <p:cNvSpPr/>
          <p:nvPr/>
        </p:nvSpPr>
        <p:spPr>
          <a:xfrm>
            <a:off x="8815268" y="3798213"/>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Headline-specific experiments</a:t>
            </a:r>
            <a:endParaRPr lang="en-US" sz="950" dirty="0">
              <a:latin typeface="Calibri" panose="020F0502020204030204" pitchFamily="34" charset="0"/>
              <a:cs typeface="Calibri" panose="020F0502020204030204" pitchFamily="34" charset="0"/>
            </a:endParaRPr>
          </a:p>
        </p:txBody>
      </p:sp>
      <p:sp>
        <p:nvSpPr>
          <p:cNvPr id="22" name="Text 20"/>
          <p:cNvSpPr/>
          <p:nvPr/>
        </p:nvSpPr>
        <p:spPr>
          <a:xfrm>
            <a:off x="9698355" y="4186833"/>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77,245</a:t>
            </a:r>
            <a:endParaRPr lang="en-US" sz="3250" dirty="0">
              <a:latin typeface="Calibri" panose="020F0502020204030204" pitchFamily="34" charset="0"/>
              <a:cs typeface="Calibri" panose="020F0502020204030204" pitchFamily="34" charset="0"/>
            </a:endParaRPr>
          </a:p>
        </p:txBody>
      </p:sp>
      <p:sp>
        <p:nvSpPr>
          <p:cNvPr id="23" name="Text 21"/>
          <p:cNvSpPr/>
          <p:nvPr/>
        </p:nvSpPr>
        <p:spPr>
          <a:xfrm>
            <a:off x="10549533" y="4726305"/>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Headlines</a:t>
            </a:r>
            <a:endParaRPr lang="en-US" sz="1200" dirty="0">
              <a:latin typeface="Calibri" panose="020F0502020204030204" pitchFamily="34" charset="0"/>
              <a:cs typeface="Calibri" panose="020F0502020204030204" pitchFamily="34" charset="0"/>
            </a:endParaRPr>
          </a:p>
        </p:txBody>
      </p:sp>
      <p:sp>
        <p:nvSpPr>
          <p:cNvPr id="24" name="Text 22"/>
          <p:cNvSpPr/>
          <p:nvPr/>
        </p:nvSpPr>
        <p:spPr>
          <a:xfrm>
            <a:off x="8815268" y="5003721"/>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Unique headline variants</a:t>
            </a:r>
            <a:endParaRPr lang="en-US" sz="950" dirty="0">
              <a:latin typeface="Calibri" panose="020F0502020204030204" pitchFamily="34" charset="0"/>
              <a:cs typeface="Calibri" panose="020F0502020204030204" pitchFamily="34" charset="0"/>
            </a:endParaRPr>
          </a:p>
        </p:txBody>
      </p:sp>
      <p:sp>
        <p:nvSpPr>
          <p:cNvPr id="25" name="Text 23"/>
          <p:cNvSpPr/>
          <p:nvPr/>
        </p:nvSpPr>
        <p:spPr>
          <a:xfrm>
            <a:off x="9698355" y="5392341"/>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277M</a:t>
            </a:r>
            <a:endParaRPr lang="en-US" sz="3250" dirty="0">
              <a:latin typeface="Calibri" panose="020F0502020204030204" pitchFamily="34" charset="0"/>
              <a:cs typeface="Calibri" panose="020F0502020204030204" pitchFamily="34" charset="0"/>
            </a:endParaRPr>
          </a:p>
        </p:txBody>
      </p:sp>
      <p:sp>
        <p:nvSpPr>
          <p:cNvPr id="26" name="Text 24"/>
          <p:cNvSpPr/>
          <p:nvPr/>
        </p:nvSpPr>
        <p:spPr>
          <a:xfrm>
            <a:off x="10549533" y="5931813"/>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Impressions</a:t>
            </a:r>
            <a:endParaRPr lang="en-US" sz="1200" dirty="0">
              <a:latin typeface="Calibri" panose="020F0502020204030204" pitchFamily="34" charset="0"/>
              <a:cs typeface="Calibri" panose="020F0502020204030204" pitchFamily="34" charset="0"/>
            </a:endParaRPr>
          </a:p>
        </p:txBody>
      </p:sp>
      <p:sp>
        <p:nvSpPr>
          <p:cNvPr id="27" name="Text 25"/>
          <p:cNvSpPr/>
          <p:nvPr/>
        </p:nvSpPr>
        <p:spPr>
          <a:xfrm>
            <a:off x="8815268" y="6209228"/>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Total display occurrences</a:t>
            </a:r>
            <a:endParaRPr lang="en-US" sz="950" dirty="0">
              <a:latin typeface="Calibri" panose="020F0502020204030204" pitchFamily="34" charset="0"/>
              <a:cs typeface="Calibri" panose="020F0502020204030204" pitchFamily="34" charset="0"/>
            </a:endParaRPr>
          </a:p>
        </p:txBody>
      </p:sp>
      <p:sp>
        <p:nvSpPr>
          <p:cNvPr id="28" name="Text 26"/>
          <p:cNvSpPr/>
          <p:nvPr/>
        </p:nvSpPr>
        <p:spPr>
          <a:xfrm>
            <a:off x="9698355" y="6597848"/>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3.74M</a:t>
            </a:r>
            <a:endParaRPr lang="en-US" sz="3250" dirty="0">
              <a:latin typeface="Calibri" panose="020F0502020204030204" pitchFamily="34" charset="0"/>
              <a:cs typeface="Calibri" panose="020F0502020204030204" pitchFamily="34" charset="0"/>
            </a:endParaRPr>
          </a:p>
        </p:txBody>
      </p:sp>
      <p:sp>
        <p:nvSpPr>
          <p:cNvPr id="29" name="Text 27"/>
          <p:cNvSpPr/>
          <p:nvPr/>
        </p:nvSpPr>
        <p:spPr>
          <a:xfrm>
            <a:off x="10549533" y="7137321"/>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Clicks</a:t>
            </a:r>
            <a:endParaRPr lang="en-US" sz="1200" dirty="0">
              <a:latin typeface="Calibri" panose="020F0502020204030204" pitchFamily="34" charset="0"/>
              <a:cs typeface="Calibri" panose="020F0502020204030204" pitchFamily="34" charset="0"/>
            </a:endParaRPr>
          </a:p>
        </p:txBody>
      </p:sp>
      <p:sp>
        <p:nvSpPr>
          <p:cNvPr id="30" name="Text 28"/>
          <p:cNvSpPr/>
          <p:nvPr/>
        </p:nvSpPr>
        <p:spPr>
          <a:xfrm>
            <a:off x="8815268" y="7414736"/>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Observed user actions</a:t>
            </a:r>
            <a:endParaRPr lang="en-US" sz="95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2361" y="547926"/>
            <a:ext cx="5563553" cy="464344"/>
          </a:xfrm>
          <a:prstGeom prst="rect">
            <a:avLst/>
          </a:prstGeom>
          <a:noFill/>
          <a:ln/>
        </p:spPr>
        <p:txBody>
          <a:bodyPr wrap="none" lIns="0" tIns="0" rIns="0" bIns="0" rtlCol="0" anchor="t"/>
          <a:lstStyle/>
          <a:p>
            <a:pPr marL="0" indent="0" algn="l">
              <a:lnSpc>
                <a:spcPts val="36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Pure LLM-Based Methods Evaluated</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2361" y="1234678"/>
            <a:ext cx="13045678" cy="415528"/>
          </a:xfrm>
          <a:prstGeom prst="rect">
            <a:avLst/>
          </a:prstGeom>
          <a:noFill/>
          <a:ln/>
        </p:spPr>
        <p:txBody>
          <a:bodyPr wrap="square" lIns="0" tIns="0" rIns="0" bIns="0" rtlCol="0" anchor="t"/>
          <a:lstStyle/>
          <a:p>
            <a:pPr>
              <a:lnSpc>
                <a:spcPts val="1600"/>
              </a:lnSpc>
            </a:pPr>
            <a:r>
              <a:rPr lang="en-US" dirty="0">
                <a:latin typeface="Calibri" panose="020F0502020204030204" pitchFamily="34" charset="0"/>
                <a:ea typeface="Heebo" pitchFamily="34" charset="-122"/>
                <a:cs typeface="Calibri" panose="020F0502020204030204" pitchFamily="34" charset="0"/>
              </a:rPr>
              <a:t>The researchers systematically evaluated three distinct LLM-based approaches</a:t>
            </a:r>
            <a:r>
              <a:rPr lang="en-US" altLang="zh-CN" dirty="0">
                <a:latin typeface="Calibri" panose="020F0502020204030204" pitchFamily="34" charset="0"/>
                <a:ea typeface="Heebo" pitchFamily="34" charset="-122"/>
                <a:cs typeface="Calibri" panose="020F0502020204030204" pitchFamily="34" charset="0"/>
              </a:rPr>
              <a:t>.</a:t>
            </a:r>
          </a:p>
          <a:p>
            <a:r>
              <a:rPr lang="en-US" altLang="zh-CN" dirty="0">
                <a:latin typeface="Calibri" panose="020F0502020204030204" pitchFamily="34" charset="0"/>
                <a:cs typeface="Calibri" panose="020F0502020204030204" pitchFamily="34" charset="0"/>
              </a:rPr>
              <a:t>We replicated and extended the original evaluation using the latest GPT models and reported partial results.</a:t>
            </a:r>
            <a:br>
              <a:rPr lang="en-US" altLang="zh-CN" dirty="0">
                <a:latin typeface="Calibri" panose="020F0502020204030204" pitchFamily="34" charset="0"/>
                <a:cs typeface="Calibri" panose="020F0502020204030204" pitchFamily="34" charset="0"/>
              </a:rPr>
            </a:br>
            <a:r>
              <a:rPr lang="en-US" altLang="zh-CN" sz="1600" dirty="0">
                <a:solidFill>
                  <a:srgbClr val="4C4C4D"/>
                </a:solidFill>
                <a:latin typeface="Calibri" panose="020F0502020204030204" pitchFamily="34" charset="0"/>
                <a:cs typeface="Calibri" panose="020F0502020204030204" pitchFamily="34" charset="0"/>
              </a:rPr>
              <a:t>See the GitHub repository for implementation details and additional findings: </a:t>
            </a:r>
            <a:r>
              <a:rPr lang="en-US" altLang="zh-CN" sz="1600" dirty="0">
                <a:solidFill>
                  <a:srgbClr val="4C4C4D"/>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https://github.com/GHCharlesLau/AI-for-research-nexusAI</a:t>
            </a:r>
            <a:endParaRPr lang="en-US" altLang="zh-CN" sz="1600" dirty="0">
              <a:solidFill>
                <a:srgbClr val="4C4C4D"/>
              </a:solidFill>
              <a:latin typeface="Calibri" panose="020F0502020204030204" pitchFamily="34" charset="0"/>
              <a:cs typeface="Calibri" panose="020F0502020204030204" pitchFamily="34" charset="0"/>
            </a:endParaRPr>
          </a:p>
        </p:txBody>
      </p:sp>
      <p:sp>
        <p:nvSpPr>
          <p:cNvPr id="4" name="Shape 2"/>
          <p:cNvSpPr/>
          <p:nvPr/>
        </p:nvSpPr>
        <p:spPr>
          <a:xfrm>
            <a:off x="792361" y="2108954"/>
            <a:ext cx="13045678" cy="1872000"/>
          </a:xfrm>
          <a:prstGeom prst="roundRect">
            <a:avLst>
              <a:gd name="adj" fmla="val 1176"/>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5" name="Shape 3"/>
          <p:cNvSpPr/>
          <p:nvPr/>
        </p:nvSpPr>
        <p:spPr>
          <a:xfrm>
            <a:off x="807601" y="2124194"/>
            <a:ext cx="594241" cy="1864162"/>
          </a:xfrm>
          <a:prstGeom prst="roundRect">
            <a:avLst>
              <a:gd name="adj" fmla="val 673"/>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6" name="Text 4"/>
          <p:cNvSpPr/>
          <p:nvPr/>
        </p:nvSpPr>
        <p:spPr>
          <a:xfrm>
            <a:off x="993338" y="2917031"/>
            <a:ext cx="222766" cy="278487"/>
          </a:xfrm>
          <a:prstGeom prst="rect">
            <a:avLst/>
          </a:prstGeom>
          <a:noFill/>
          <a:ln/>
        </p:spPr>
        <p:txBody>
          <a:bodyPr wrap="none" lIns="0" tIns="0" rIns="0" bIns="0" rtlCol="0" anchor="t"/>
          <a:lstStyle/>
          <a:p>
            <a:pPr marL="0" indent="0" algn="l">
              <a:lnSpc>
                <a:spcPts val="1750"/>
              </a:lnSpc>
              <a:buNone/>
            </a:pPr>
            <a:r>
              <a:rPr lang="en-US" dirty="0">
                <a:solidFill>
                  <a:srgbClr val="4C4C4D"/>
                </a:solidFill>
                <a:latin typeface="Calibri" panose="020F0502020204030204" pitchFamily="34" charset="0"/>
                <a:ea typeface="Crimson Pro Semi Bold" pitchFamily="34" charset="-122"/>
                <a:cs typeface="Calibri" panose="020F0502020204030204" pitchFamily="34" charset="0"/>
              </a:rPr>
              <a:t>1</a:t>
            </a:r>
            <a:endParaRPr lang="en-US" dirty="0">
              <a:latin typeface="Calibri" panose="020F0502020204030204" pitchFamily="34" charset="0"/>
              <a:cs typeface="Calibri" panose="020F0502020204030204" pitchFamily="34" charset="0"/>
            </a:endParaRPr>
          </a:p>
        </p:txBody>
      </p:sp>
      <p:sp>
        <p:nvSpPr>
          <p:cNvPr id="7" name="Text 5"/>
          <p:cNvSpPr/>
          <p:nvPr/>
        </p:nvSpPr>
        <p:spPr>
          <a:xfrm>
            <a:off x="1513046" y="2272665"/>
            <a:ext cx="2447925" cy="278606"/>
          </a:xfrm>
          <a:prstGeom prst="rect">
            <a:avLst/>
          </a:prstGeom>
          <a:noFill/>
          <a:ln/>
        </p:spPr>
        <p:txBody>
          <a:bodyPr wrap="none" lIns="0" tIns="0" rIns="0" bIns="0" rtlCol="0" anchor="t"/>
          <a:lstStyle/>
          <a:p>
            <a:pPr marL="0" indent="0" algn="l">
              <a:lnSpc>
                <a:spcPts val="2150"/>
              </a:lnSpc>
              <a:buNone/>
            </a:pPr>
            <a:r>
              <a:rPr lang="en-US" sz="2400" dirty="0">
                <a:solidFill>
                  <a:srgbClr val="4C4C4D"/>
                </a:solidFill>
                <a:latin typeface="Calibri" panose="020F0502020204030204" pitchFamily="34" charset="0"/>
                <a:ea typeface="Crimson Pro Semi Bold" pitchFamily="34" charset="-122"/>
                <a:cs typeface="Calibri" panose="020F0502020204030204" pitchFamily="34" charset="0"/>
              </a:rPr>
              <a:t>Prompt-Based Approaches</a:t>
            </a:r>
            <a:endParaRPr lang="en-US" sz="2400" dirty="0">
              <a:latin typeface="Calibri" panose="020F0502020204030204" pitchFamily="34" charset="0"/>
              <a:cs typeface="Calibri" panose="020F0502020204030204" pitchFamily="34" charset="0"/>
            </a:endParaRPr>
          </a:p>
        </p:txBody>
      </p:sp>
      <p:sp>
        <p:nvSpPr>
          <p:cNvPr id="8" name="Text 6"/>
          <p:cNvSpPr/>
          <p:nvPr/>
        </p:nvSpPr>
        <p:spPr>
          <a:xfrm>
            <a:off x="1513046" y="2617946"/>
            <a:ext cx="12161282" cy="207764"/>
          </a:xfrm>
          <a:prstGeom prst="rect">
            <a:avLst/>
          </a:prstGeom>
          <a:noFill/>
          <a:ln/>
        </p:spPr>
        <p:txBody>
          <a:bodyPr wrap="none" lIns="0" tIns="0" rIns="0" bIns="0" rtlCol="0" anchor="ctr"/>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Direct interaction with LLMs through carefully crafted prompts, testing both zero-shot and in-context learning variants.</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1513046" y="2929582"/>
            <a:ext cx="12161282" cy="947499"/>
          </a:xfrm>
          <a:prstGeom prst="rect">
            <a:avLst/>
          </a:prstGeom>
          <a:noFill/>
          <a:ln/>
        </p:spPr>
        <p:txBody>
          <a:bodyPr wrap="square" lIns="0" tIns="0" rIns="0" bIns="0" rtlCol="0" anchor="ctr"/>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Zero-shot prompting: LLM directly asked to identify catchiest headline</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In-context learning: Demonstrations provided before query</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Role prompting: LLM assigned specific expert persona</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Temperature and formatting controls</a:t>
            </a:r>
            <a:endParaRPr lang="en-US" sz="1600" dirty="0">
              <a:latin typeface="Calibri" panose="020F0502020204030204" pitchFamily="34" charset="0"/>
              <a:cs typeface="Calibri" panose="020F0502020204030204" pitchFamily="34" charset="0"/>
            </a:endParaRPr>
          </a:p>
        </p:txBody>
      </p:sp>
      <p:sp>
        <p:nvSpPr>
          <p:cNvPr id="10" name="Shape 8"/>
          <p:cNvSpPr/>
          <p:nvPr/>
        </p:nvSpPr>
        <p:spPr>
          <a:xfrm>
            <a:off x="792361" y="4114800"/>
            <a:ext cx="13045678" cy="1894642"/>
          </a:xfrm>
          <a:prstGeom prst="roundRect">
            <a:avLst>
              <a:gd name="adj" fmla="val 1176"/>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11" name="Shape 9"/>
          <p:cNvSpPr/>
          <p:nvPr/>
        </p:nvSpPr>
        <p:spPr>
          <a:xfrm>
            <a:off x="807601" y="4130040"/>
            <a:ext cx="594241" cy="1864162"/>
          </a:xfrm>
          <a:prstGeom prst="roundRect">
            <a:avLst>
              <a:gd name="adj" fmla="val 673"/>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12" name="Text 10"/>
          <p:cNvSpPr/>
          <p:nvPr/>
        </p:nvSpPr>
        <p:spPr>
          <a:xfrm>
            <a:off x="993338" y="4922877"/>
            <a:ext cx="222766" cy="278487"/>
          </a:xfrm>
          <a:prstGeom prst="rect">
            <a:avLst/>
          </a:prstGeom>
          <a:noFill/>
          <a:ln/>
        </p:spPr>
        <p:txBody>
          <a:bodyPr wrap="none" lIns="0" tIns="0" rIns="0" bIns="0" rtlCol="0" anchor="t"/>
          <a:lstStyle/>
          <a:p>
            <a:pPr marL="0" indent="0" algn="l">
              <a:lnSpc>
                <a:spcPts val="1750"/>
              </a:lnSpc>
              <a:buNone/>
            </a:pPr>
            <a:r>
              <a:rPr lang="en-US" dirty="0">
                <a:solidFill>
                  <a:srgbClr val="4C4C4D"/>
                </a:solidFill>
                <a:latin typeface="Calibri" panose="020F0502020204030204" pitchFamily="34" charset="0"/>
                <a:ea typeface="Crimson Pro Semi Bold" pitchFamily="34" charset="-122"/>
                <a:cs typeface="Calibri" panose="020F0502020204030204" pitchFamily="34" charset="0"/>
              </a:rPr>
              <a:t>2</a:t>
            </a:r>
            <a:endParaRPr lang="en-US" dirty="0">
              <a:latin typeface="Calibri" panose="020F0502020204030204" pitchFamily="34" charset="0"/>
              <a:cs typeface="Calibri" panose="020F0502020204030204" pitchFamily="34" charset="0"/>
            </a:endParaRPr>
          </a:p>
        </p:txBody>
      </p:sp>
      <p:sp>
        <p:nvSpPr>
          <p:cNvPr id="13" name="Text 11"/>
          <p:cNvSpPr/>
          <p:nvPr/>
        </p:nvSpPr>
        <p:spPr>
          <a:xfrm>
            <a:off x="1513046" y="4278511"/>
            <a:ext cx="3131225" cy="278606"/>
          </a:xfrm>
          <a:prstGeom prst="rect">
            <a:avLst/>
          </a:prstGeom>
          <a:noFill/>
          <a:ln/>
        </p:spPr>
        <p:txBody>
          <a:bodyPr wrap="none" lIns="0" tIns="0" rIns="0" bIns="0" rtlCol="0" anchor="t"/>
          <a:lstStyle/>
          <a:p>
            <a:pPr marL="0" indent="0" algn="l">
              <a:lnSpc>
                <a:spcPts val="2150"/>
              </a:lnSpc>
              <a:buNone/>
            </a:pPr>
            <a:r>
              <a:rPr lang="en-US" sz="2400" dirty="0">
                <a:solidFill>
                  <a:srgbClr val="4C4C4D"/>
                </a:solidFill>
                <a:latin typeface="Calibri" panose="020F0502020204030204" pitchFamily="34" charset="0"/>
                <a:ea typeface="Crimson Pro Semi Bold" pitchFamily="34" charset="-122"/>
                <a:cs typeface="Calibri" panose="020F0502020204030204" pitchFamily="34" charset="0"/>
              </a:rPr>
              <a:t>Embedding-Based CTR Prediction</a:t>
            </a:r>
            <a:endParaRPr lang="en-US" sz="2400" dirty="0">
              <a:latin typeface="Calibri" panose="020F0502020204030204" pitchFamily="34" charset="0"/>
              <a:cs typeface="Calibri" panose="020F0502020204030204" pitchFamily="34" charset="0"/>
            </a:endParaRPr>
          </a:p>
        </p:txBody>
      </p:sp>
      <p:sp>
        <p:nvSpPr>
          <p:cNvPr id="14" name="Text 12"/>
          <p:cNvSpPr/>
          <p:nvPr/>
        </p:nvSpPr>
        <p:spPr>
          <a:xfrm>
            <a:off x="1513046" y="4623792"/>
            <a:ext cx="12161282" cy="207764"/>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Using LLM-generated embeddings as input features for supervised machine learning models.</a:t>
            </a:r>
            <a:endParaRPr lang="en-US" sz="1600" dirty="0">
              <a:latin typeface="Calibri" panose="020F0502020204030204" pitchFamily="34" charset="0"/>
              <a:cs typeface="Calibri" panose="020F0502020204030204" pitchFamily="34" charset="0"/>
            </a:endParaRPr>
          </a:p>
        </p:txBody>
      </p:sp>
      <p:sp>
        <p:nvSpPr>
          <p:cNvPr id="15" name="Text 13"/>
          <p:cNvSpPr/>
          <p:nvPr/>
        </p:nvSpPr>
        <p:spPr>
          <a:xfrm>
            <a:off x="1513046" y="4922877"/>
            <a:ext cx="12161282" cy="947499"/>
          </a:xfrm>
          <a:prstGeom prst="rect">
            <a:avLst/>
          </a:prstGeom>
          <a:noFill/>
          <a:ln/>
        </p:spPr>
        <p:txBody>
          <a:bodyPr wrap="square" lIns="0" tIns="0" rIns="0" bIns="0" rtlCol="0" anchor="ctr"/>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OpenAI embedding models (256-dim and 3072-dim)</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Linear regression with embedding features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Multilayer perceptron (MLP) architectures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End-to-end CTR prediction framework</a:t>
            </a:r>
            <a:endParaRPr lang="en-US" sz="1600" dirty="0">
              <a:latin typeface="Calibri" panose="020F0502020204030204" pitchFamily="34" charset="0"/>
              <a:cs typeface="Calibri" panose="020F0502020204030204" pitchFamily="34" charset="0"/>
            </a:endParaRPr>
          </a:p>
        </p:txBody>
      </p:sp>
      <p:sp>
        <p:nvSpPr>
          <p:cNvPr id="16" name="Shape 14"/>
          <p:cNvSpPr/>
          <p:nvPr/>
        </p:nvSpPr>
        <p:spPr>
          <a:xfrm>
            <a:off x="792361" y="6120646"/>
            <a:ext cx="13045678" cy="1894642"/>
          </a:xfrm>
          <a:prstGeom prst="roundRect">
            <a:avLst>
              <a:gd name="adj" fmla="val 1176"/>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17" name="Shape 15"/>
          <p:cNvSpPr/>
          <p:nvPr/>
        </p:nvSpPr>
        <p:spPr>
          <a:xfrm>
            <a:off x="807601" y="6135886"/>
            <a:ext cx="594241" cy="1864162"/>
          </a:xfrm>
          <a:prstGeom prst="roundRect">
            <a:avLst>
              <a:gd name="adj" fmla="val 673"/>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18" name="Text 16"/>
          <p:cNvSpPr/>
          <p:nvPr/>
        </p:nvSpPr>
        <p:spPr>
          <a:xfrm>
            <a:off x="993338" y="6928723"/>
            <a:ext cx="222766" cy="278487"/>
          </a:xfrm>
          <a:prstGeom prst="rect">
            <a:avLst/>
          </a:prstGeom>
          <a:noFill/>
          <a:ln/>
        </p:spPr>
        <p:txBody>
          <a:bodyPr wrap="none" lIns="0" tIns="0" rIns="0" bIns="0" rtlCol="0" anchor="t"/>
          <a:lstStyle/>
          <a:p>
            <a:pPr marL="0" indent="0" algn="l">
              <a:lnSpc>
                <a:spcPts val="1750"/>
              </a:lnSpc>
              <a:buNone/>
            </a:pPr>
            <a:r>
              <a:rPr lang="en-US" dirty="0">
                <a:solidFill>
                  <a:srgbClr val="4C4C4D"/>
                </a:solidFill>
                <a:latin typeface="Calibri" panose="020F0502020204030204" pitchFamily="34" charset="0"/>
                <a:ea typeface="Crimson Pro Semi Bold" pitchFamily="34" charset="-122"/>
                <a:cs typeface="Calibri" panose="020F0502020204030204" pitchFamily="34" charset="0"/>
              </a:rPr>
              <a:t>3</a:t>
            </a:r>
            <a:endParaRPr lang="en-US" dirty="0">
              <a:latin typeface="Calibri" panose="020F0502020204030204" pitchFamily="34" charset="0"/>
              <a:cs typeface="Calibri" panose="020F0502020204030204" pitchFamily="34" charset="0"/>
            </a:endParaRPr>
          </a:p>
        </p:txBody>
      </p:sp>
      <p:sp>
        <p:nvSpPr>
          <p:cNvPr id="19" name="Text 17"/>
          <p:cNvSpPr/>
          <p:nvPr/>
        </p:nvSpPr>
        <p:spPr>
          <a:xfrm>
            <a:off x="1513046" y="6284357"/>
            <a:ext cx="2228612" cy="278606"/>
          </a:xfrm>
          <a:prstGeom prst="rect">
            <a:avLst/>
          </a:prstGeom>
          <a:noFill/>
          <a:ln/>
        </p:spPr>
        <p:txBody>
          <a:bodyPr wrap="none" lIns="0" tIns="0" rIns="0" bIns="0" rtlCol="0" anchor="t"/>
          <a:lstStyle/>
          <a:p>
            <a:pPr marL="0" indent="0" algn="l">
              <a:lnSpc>
                <a:spcPts val="2150"/>
              </a:lnSpc>
              <a:buNone/>
            </a:pPr>
            <a:r>
              <a:rPr lang="en-US" sz="2400" dirty="0">
                <a:solidFill>
                  <a:srgbClr val="4C4C4D"/>
                </a:solidFill>
                <a:latin typeface="Calibri" panose="020F0502020204030204" pitchFamily="34" charset="0"/>
                <a:ea typeface="Crimson Pro Semi Bold" pitchFamily="34" charset="-122"/>
                <a:cs typeface="Calibri" panose="020F0502020204030204" pitchFamily="34" charset="0"/>
              </a:rPr>
              <a:t>Fine-Tuned LLM</a:t>
            </a:r>
            <a:endParaRPr lang="en-US" sz="2400" dirty="0">
              <a:latin typeface="Calibri" panose="020F0502020204030204" pitchFamily="34" charset="0"/>
              <a:cs typeface="Calibri" panose="020F0502020204030204" pitchFamily="34" charset="0"/>
            </a:endParaRPr>
          </a:p>
        </p:txBody>
      </p:sp>
      <p:sp>
        <p:nvSpPr>
          <p:cNvPr id="20" name="Text 18"/>
          <p:cNvSpPr/>
          <p:nvPr/>
        </p:nvSpPr>
        <p:spPr>
          <a:xfrm>
            <a:off x="1513046" y="6629638"/>
            <a:ext cx="12161282" cy="207764"/>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Custom training of LLM on headline prediction task.</a:t>
            </a:r>
            <a:endParaRPr lang="en-US" sz="1600" dirty="0">
              <a:latin typeface="Calibri" panose="020F0502020204030204" pitchFamily="34" charset="0"/>
              <a:cs typeface="Calibri" panose="020F0502020204030204" pitchFamily="34" charset="0"/>
            </a:endParaRPr>
          </a:p>
        </p:txBody>
      </p:sp>
      <p:sp>
        <p:nvSpPr>
          <p:cNvPr id="21" name="Text 19"/>
          <p:cNvSpPr/>
          <p:nvPr/>
        </p:nvSpPr>
        <p:spPr>
          <a:xfrm>
            <a:off x="1513046" y="6928723"/>
            <a:ext cx="12161282" cy="947499"/>
          </a:xfrm>
          <a:prstGeom prst="rect">
            <a:avLst/>
          </a:prstGeom>
          <a:noFill/>
          <a:ln/>
        </p:spPr>
        <p:txBody>
          <a:bodyPr wrap="square" lIns="0" tIns="0" rIns="0" bIns="0" rtlCol="0" anchor="ctr"/>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Full model fine-tuning on labeled dataset</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Task-specific architecture modifications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Hyperparameter optimization</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Comprehensive performance evaluation</a:t>
            </a:r>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86897"/>
            <a:ext cx="6194108" cy="403146"/>
          </a:xfrm>
          <a:prstGeom prst="rect">
            <a:avLst/>
          </a:prstGeom>
          <a:noFill/>
          <a:ln/>
        </p:spPr>
        <p:txBody>
          <a:bodyPr wrap="none" lIns="0" tIns="0" rIns="0" bIns="0" rtlCol="0" anchor="t"/>
          <a:lstStyle/>
          <a:p>
            <a:pPr marL="0" indent="0" algn="l">
              <a:lnSpc>
                <a:spcPts val="31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Prompt-Based Method 1: Zero-Shot Prompting</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3790" y="1491139"/>
            <a:ext cx="7031950" cy="681038"/>
          </a:xfrm>
          <a:prstGeom prst="rect">
            <a:avLst/>
          </a:prstGeom>
          <a:noFill/>
          <a:ln/>
        </p:spPr>
        <p:txBody>
          <a:bodyPr wrap="square" lIns="0" tIns="0" rIns="0" bIns="0" rtlCol="0" anchor="t"/>
          <a:lstStyle/>
          <a:p>
            <a:pPr marL="0" indent="0" algn="l">
              <a:buNone/>
            </a:pPr>
            <a:r>
              <a:rPr lang="en-US" dirty="0">
                <a:solidFill>
                  <a:srgbClr val="4C4C4D"/>
                </a:solidFill>
                <a:latin typeface="Calibri" panose="020F0502020204030204" pitchFamily="34" charset="0"/>
                <a:ea typeface="Heebo" pitchFamily="34" charset="-122"/>
                <a:cs typeface="Calibri" panose="020F0502020204030204" pitchFamily="34" charset="0"/>
              </a:rPr>
              <a:t>The first prompt-based approach tested was </a:t>
            </a:r>
            <a:r>
              <a:rPr lang="en-US" b="1" dirty="0">
                <a:solidFill>
                  <a:srgbClr val="4C4C4D"/>
                </a:solidFill>
                <a:latin typeface="Calibri" panose="020F0502020204030204" pitchFamily="34" charset="0"/>
                <a:ea typeface="Heebo" pitchFamily="34" charset="-122"/>
                <a:cs typeface="Calibri" panose="020F0502020204030204" pitchFamily="34" charset="0"/>
              </a:rPr>
              <a:t>zero-shot prompting</a:t>
            </a:r>
            <a:r>
              <a:rPr lang="en-US" dirty="0">
                <a:solidFill>
                  <a:srgbClr val="4C4C4D"/>
                </a:solidFill>
                <a:latin typeface="Calibri" panose="020F0502020204030204" pitchFamily="34" charset="0"/>
                <a:ea typeface="Heebo" pitchFamily="34" charset="-122"/>
                <a:cs typeface="Calibri" panose="020F0502020204030204" pitchFamily="34" charset="0"/>
              </a:rPr>
              <a:t>, where the LLM is directly asked to identify the catchiest headline without any prior examples or demonstrations. The prompt structure was straightforward: "Which headline is the catchiest?" The researchers also experimented with role prompting, where the LLM was assigned the persona of a marketing expert to see if this improved performance.</a:t>
            </a:r>
            <a:endParaRPr lang="en-US" dirty="0">
              <a:latin typeface="Calibri" panose="020F0502020204030204" pitchFamily="34" charset="0"/>
              <a:cs typeface="Calibri" panose="020F0502020204030204" pitchFamily="34" charset="0"/>
            </a:endParaRPr>
          </a:p>
        </p:txBody>
      </p:sp>
      <p:sp>
        <p:nvSpPr>
          <p:cNvPr id="4" name="Text 2"/>
          <p:cNvSpPr/>
          <p:nvPr/>
        </p:nvSpPr>
        <p:spPr>
          <a:xfrm>
            <a:off x="793790" y="3430118"/>
            <a:ext cx="1612583" cy="201454"/>
          </a:xfrm>
          <a:prstGeom prst="rect">
            <a:avLst/>
          </a:prstGeom>
          <a:noFill/>
          <a:ln/>
        </p:spPr>
        <p:txBody>
          <a:bodyPr wrap="none" lIns="0" tIns="0" rIns="0" bIns="0" rtlCol="0" anchor="t"/>
          <a:lstStyle/>
          <a:p>
            <a:pPr marL="0" indent="0" algn="l">
              <a:lnSpc>
                <a:spcPts val="1550"/>
              </a:lnSpc>
              <a:buNone/>
            </a:pPr>
            <a:r>
              <a:rPr lang="en-US" b="1" dirty="0">
                <a:solidFill>
                  <a:srgbClr val="152D47"/>
                </a:solidFill>
                <a:latin typeface="Calibri" panose="020F0502020204030204" pitchFamily="34" charset="0"/>
                <a:ea typeface="Crimson Pro Semi Bold" pitchFamily="34" charset="-122"/>
                <a:cs typeface="Calibri" panose="020F0502020204030204" pitchFamily="34" charset="0"/>
              </a:rPr>
              <a:t>Experimental Controls</a:t>
            </a:r>
            <a:endParaRPr lang="en-US" b="1" dirty="0">
              <a:latin typeface="Calibri" panose="020F0502020204030204" pitchFamily="34" charset="0"/>
              <a:cs typeface="Calibri" panose="020F0502020204030204" pitchFamily="34" charset="0"/>
            </a:endParaRPr>
          </a:p>
        </p:txBody>
      </p:sp>
      <p:sp>
        <p:nvSpPr>
          <p:cNvPr id="6" name="Text 4"/>
          <p:cNvSpPr/>
          <p:nvPr/>
        </p:nvSpPr>
        <p:spPr>
          <a:xfrm>
            <a:off x="793790" y="3828752"/>
            <a:ext cx="7031950" cy="768906"/>
          </a:xfrm>
          <a:prstGeom prst="rect">
            <a:avLst/>
          </a:prstGeom>
          <a:noFill/>
          <a:ln/>
        </p:spPr>
        <p:txBody>
          <a:bodyPr wrap="square" lIns="0" tIns="0" rIns="0" bIns="0" rtlCol="0" anchor="t"/>
          <a:lstStyle/>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Temperature set to 0 for deterministic outputs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Randomized order of headline options across tests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Different marker types (letters, numbers, symbols)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Multiple model versions tested</a:t>
            </a:r>
            <a:endParaRPr lang="en-US" dirty="0">
              <a:latin typeface="Calibri" panose="020F0502020204030204" pitchFamily="34" charset="0"/>
              <a:cs typeface="Calibri" panose="020F0502020204030204" pitchFamily="34" charset="0"/>
            </a:endParaRPr>
          </a:p>
        </p:txBody>
      </p:sp>
      <p:sp>
        <p:nvSpPr>
          <p:cNvPr id="7" name="Text 5"/>
          <p:cNvSpPr/>
          <p:nvPr/>
        </p:nvSpPr>
        <p:spPr>
          <a:xfrm>
            <a:off x="793790" y="5286242"/>
            <a:ext cx="1612583" cy="201454"/>
          </a:xfrm>
          <a:prstGeom prst="rect">
            <a:avLst/>
          </a:prstGeom>
          <a:noFill/>
          <a:ln/>
        </p:spPr>
        <p:txBody>
          <a:bodyPr wrap="none" lIns="0" tIns="0" rIns="0" bIns="0" rtlCol="0" anchor="t"/>
          <a:lstStyle/>
          <a:p>
            <a:pPr marL="0" indent="0" algn="l">
              <a:lnSpc>
                <a:spcPts val="1550"/>
              </a:lnSpc>
              <a:buNone/>
            </a:pPr>
            <a:r>
              <a:rPr lang="en-US" sz="1600" b="1" dirty="0">
                <a:solidFill>
                  <a:srgbClr val="152D47"/>
                </a:solidFill>
                <a:latin typeface="Calibri" panose="020F0502020204030204" pitchFamily="34" charset="0"/>
                <a:ea typeface="Crimson Pro Semi Bold" pitchFamily="34" charset="-122"/>
                <a:cs typeface="Calibri" panose="020F0502020204030204" pitchFamily="34" charset="0"/>
              </a:rPr>
              <a:t>Models Tested</a:t>
            </a:r>
            <a:endParaRPr lang="en-US" sz="1600" b="1" dirty="0">
              <a:latin typeface="Calibri" panose="020F0502020204030204" pitchFamily="34" charset="0"/>
              <a:cs typeface="Calibri" panose="020F0502020204030204" pitchFamily="34" charset="0"/>
            </a:endParaRPr>
          </a:p>
        </p:txBody>
      </p:sp>
      <p:sp>
        <p:nvSpPr>
          <p:cNvPr id="8" name="Text 6"/>
          <p:cNvSpPr/>
          <p:nvPr/>
        </p:nvSpPr>
        <p:spPr>
          <a:xfrm>
            <a:off x="793790" y="5684876"/>
            <a:ext cx="5696188" cy="569357"/>
          </a:xfrm>
          <a:prstGeom prst="rect">
            <a:avLst/>
          </a:prstGeom>
          <a:noFill/>
          <a:ln/>
        </p:spPr>
        <p:txBody>
          <a:bodyPr wrap="square" lIns="0" tIns="0" rIns="0" bIns="0" rtlCol="0" anchor="t"/>
          <a:lstStyle/>
          <a:p>
            <a:pPr algn="l">
              <a:buSzPct val="100000"/>
            </a:pPr>
            <a:r>
              <a:rPr lang="en-US" sz="1600" dirty="0">
                <a:solidFill>
                  <a:srgbClr val="4C4C4D"/>
                </a:solidFill>
                <a:latin typeface="Calibri" panose="020F0502020204030204" pitchFamily="34" charset="0"/>
                <a:ea typeface="Heebo" pitchFamily="34" charset="-122"/>
                <a:cs typeface="Calibri" panose="020F0502020204030204" pitchFamily="34" charset="0"/>
              </a:rPr>
              <a:t>We replicate the original evaluation on:</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GPT-3.5</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GPT-4o</a:t>
            </a:r>
          </a:p>
          <a:p>
            <a:pPr algn="l">
              <a:buSzPct val="100000"/>
            </a:pPr>
            <a:endParaRPr lang="en-US" sz="1600" dirty="0">
              <a:solidFill>
                <a:srgbClr val="4C4C4D"/>
              </a:solidFill>
              <a:latin typeface="Calibri" panose="020F0502020204030204" pitchFamily="34" charset="0"/>
              <a:ea typeface="Heebo" pitchFamily="34" charset="-122"/>
              <a:cs typeface="Calibri" panose="020F0502020204030204" pitchFamily="34" charset="0"/>
            </a:endParaRPr>
          </a:p>
          <a:p>
            <a:pPr algn="l">
              <a:buSzPct val="100000"/>
            </a:pPr>
            <a:r>
              <a:rPr lang="en-US" sz="1600" dirty="0">
                <a:solidFill>
                  <a:srgbClr val="4C4C4D"/>
                </a:solidFill>
                <a:latin typeface="Calibri" panose="020F0502020204030204" pitchFamily="34" charset="0"/>
                <a:ea typeface="Heebo" pitchFamily="34" charset="-122"/>
                <a:cs typeface="Calibri" panose="020F0502020204030204" pitchFamily="34" charset="0"/>
              </a:rPr>
              <a:t>and extend the analysis to include:</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GPT-5.2</a:t>
            </a:r>
          </a:p>
        </p:txBody>
      </p:sp>
      <p:pic>
        <p:nvPicPr>
          <p:cNvPr id="29" name="图片 28" descr="图形用户界面, 文本, 应用程序&#10;&#10;AI 生成的内容可能不正确。">
            <a:extLst>
              <a:ext uri="{FF2B5EF4-FFF2-40B4-BE49-F238E27FC236}">
                <a16:creationId xmlns:a16="http://schemas.microsoft.com/office/drawing/2014/main" id="{DAF5A32B-6E41-643B-D79C-FD4F33C7270B}"/>
              </a:ext>
            </a:extLst>
          </p:cNvPr>
          <p:cNvPicPr>
            <a:picLocks noChangeAspect="1"/>
          </p:cNvPicPr>
          <p:nvPr/>
        </p:nvPicPr>
        <p:blipFill>
          <a:blip r:embed="rId3"/>
          <a:stretch>
            <a:fillRect/>
          </a:stretch>
        </p:blipFill>
        <p:spPr>
          <a:xfrm>
            <a:off x="7962946" y="1491139"/>
            <a:ext cx="6477000" cy="635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0218" y="551259"/>
            <a:ext cx="7040642" cy="462915"/>
          </a:xfrm>
          <a:prstGeom prst="rect">
            <a:avLst/>
          </a:prstGeom>
          <a:noFill/>
          <a:ln/>
        </p:spPr>
        <p:txBody>
          <a:bodyPr wrap="none" lIns="0" tIns="0" rIns="0" bIns="0" rtlCol="0" anchor="t"/>
          <a:lstStyle/>
          <a:p>
            <a:pPr marL="0" indent="0" algn="l">
              <a:lnSpc>
                <a:spcPts val="36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Prompt-Based Method 2: In-Context Learning</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0218" y="1235393"/>
            <a:ext cx="13049964" cy="413861"/>
          </a:xfrm>
          <a:prstGeom prst="rect">
            <a:avLst/>
          </a:prstGeom>
          <a:noFill/>
          <a:ln/>
        </p:spPr>
        <p:txBody>
          <a:bodyPr wrap="square" lIns="0" tIns="0" rIns="0" bIns="0" rtlCol="0" anchor="t"/>
          <a:lstStyle/>
          <a:p>
            <a:pPr marL="0" indent="0" algn="l">
              <a:buNone/>
            </a:pPr>
            <a:r>
              <a:rPr lang="en-US" dirty="0">
                <a:solidFill>
                  <a:srgbClr val="4C4C4D"/>
                </a:solidFill>
                <a:latin typeface="Calibri" panose="020F0502020204030204" pitchFamily="34" charset="0"/>
                <a:ea typeface="Heebo" pitchFamily="34" charset="-122"/>
                <a:cs typeface="Calibri" panose="020F0502020204030204" pitchFamily="34" charset="0"/>
              </a:rPr>
              <a:t>The second prompt-based approach tested was </a:t>
            </a:r>
            <a:r>
              <a:rPr lang="en-US" b="1" dirty="0">
                <a:solidFill>
                  <a:srgbClr val="4C4C4D"/>
                </a:solidFill>
                <a:latin typeface="Calibri" panose="020F0502020204030204" pitchFamily="34" charset="0"/>
                <a:ea typeface="Heebo" pitchFamily="34" charset="-122"/>
                <a:cs typeface="Calibri" panose="020F0502020204030204" pitchFamily="34" charset="0"/>
              </a:rPr>
              <a:t>in-context learning</a:t>
            </a:r>
            <a:r>
              <a:rPr lang="en-US" dirty="0">
                <a:solidFill>
                  <a:srgbClr val="4C4C4D"/>
                </a:solidFill>
                <a:latin typeface="Calibri" panose="020F0502020204030204" pitchFamily="34" charset="0"/>
                <a:ea typeface="Heebo" pitchFamily="34" charset="-122"/>
                <a:cs typeface="Calibri" panose="020F0502020204030204" pitchFamily="34" charset="0"/>
              </a:rPr>
              <a:t>, where the LLM is provided with demonstrations before the actual query. This approach tests whether showing examples of headline sets and their correct winners helps the model learn the underlying task structure and improve prediction accuracy.</a:t>
            </a:r>
            <a:endParaRPr lang="en-US" dirty="0">
              <a:latin typeface="Calibri" panose="020F0502020204030204" pitchFamily="34" charset="0"/>
              <a:cs typeface="Calibri" panose="020F0502020204030204" pitchFamily="34" charset="0"/>
            </a:endParaRPr>
          </a:p>
        </p:txBody>
      </p:sp>
      <p:pic>
        <p:nvPicPr>
          <p:cNvPr id="4" name="Image 0" descr="preencoded.png"/>
          <p:cNvPicPr>
            <a:picLocks noChangeAspect="1"/>
          </p:cNvPicPr>
          <p:nvPr/>
        </p:nvPicPr>
        <p:blipFill>
          <a:blip r:embed="rId3"/>
          <a:stretch>
            <a:fillRect/>
          </a:stretch>
        </p:blipFill>
        <p:spPr>
          <a:xfrm>
            <a:off x="790218" y="2192907"/>
            <a:ext cx="4349948" cy="592574"/>
          </a:xfrm>
          <a:prstGeom prst="rect">
            <a:avLst/>
          </a:prstGeom>
        </p:spPr>
      </p:pic>
      <p:sp>
        <p:nvSpPr>
          <p:cNvPr id="5" name="Text 2"/>
          <p:cNvSpPr/>
          <p:nvPr/>
        </p:nvSpPr>
        <p:spPr>
          <a:xfrm>
            <a:off x="938332" y="2896090"/>
            <a:ext cx="1852017" cy="231577"/>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Demonstrations</a:t>
            </a:r>
            <a:endParaRPr lang="en-US" sz="1600" dirty="0">
              <a:latin typeface="Calibri" panose="020F0502020204030204" pitchFamily="34" charset="0"/>
              <a:cs typeface="Calibri" panose="020F0502020204030204" pitchFamily="34" charset="0"/>
            </a:endParaRPr>
          </a:p>
        </p:txBody>
      </p:sp>
      <p:sp>
        <p:nvSpPr>
          <p:cNvPr id="6" name="Text 3"/>
          <p:cNvSpPr/>
          <p:nvPr/>
        </p:nvSpPr>
        <p:spPr>
          <a:xfrm>
            <a:off x="938332" y="3193985"/>
            <a:ext cx="4053721" cy="413861"/>
          </a:xfrm>
          <a:prstGeom prst="rect">
            <a:avLst/>
          </a:prstGeom>
          <a:noFill/>
          <a:ln/>
        </p:spPr>
        <p:txBody>
          <a:bodyPr wrap="square" lIns="0" tIns="0" rIns="0" bIns="0" rtlCol="0" anchor="t"/>
          <a:lstStyle/>
          <a:p>
            <a:pPr marL="0" indent="0" algn="l">
              <a:lnSpc>
                <a:spcPts val="160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Example headline sets with labeled winners provided as context</a:t>
            </a:r>
            <a:endParaRPr lang="en-US" sz="1200" dirty="0">
              <a:latin typeface="Calibri" panose="020F0502020204030204" pitchFamily="34" charset="0"/>
              <a:cs typeface="Calibri" panose="020F0502020204030204" pitchFamily="34" charset="0"/>
            </a:endParaRPr>
          </a:p>
        </p:txBody>
      </p:sp>
      <p:pic>
        <p:nvPicPr>
          <p:cNvPr id="7" name="Image 1" descr="preencoded.png"/>
          <p:cNvPicPr>
            <a:picLocks noChangeAspect="1"/>
          </p:cNvPicPr>
          <p:nvPr/>
        </p:nvPicPr>
        <p:blipFill>
          <a:blip r:embed="rId4"/>
          <a:stretch>
            <a:fillRect/>
          </a:stretch>
        </p:blipFill>
        <p:spPr>
          <a:xfrm>
            <a:off x="5140166" y="2192907"/>
            <a:ext cx="4349948" cy="592574"/>
          </a:xfrm>
          <a:prstGeom prst="rect">
            <a:avLst/>
          </a:prstGeom>
        </p:spPr>
      </p:pic>
      <p:sp>
        <p:nvSpPr>
          <p:cNvPr id="8" name="Text 4"/>
          <p:cNvSpPr/>
          <p:nvPr/>
        </p:nvSpPr>
        <p:spPr>
          <a:xfrm>
            <a:off x="5288280" y="2896090"/>
            <a:ext cx="1852017" cy="231577"/>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Learning</a:t>
            </a:r>
            <a:endParaRPr lang="en-US" sz="1600" dirty="0">
              <a:latin typeface="Calibri" panose="020F0502020204030204" pitchFamily="34" charset="0"/>
              <a:cs typeface="Calibri" panose="020F0502020204030204" pitchFamily="34" charset="0"/>
            </a:endParaRPr>
          </a:p>
        </p:txBody>
      </p:sp>
      <p:sp>
        <p:nvSpPr>
          <p:cNvPr id="9" name="Text 5"/>
          <p:cNvSpPr/>
          <p:nvPr/>
        </p:nvSpPr>
        <p:spPr>
          <a:xfrm>
            <a:off x="5288280" y="3193985"/>
            <a:ext cx="4053721" cy="206931"/>
          </a:xfrm>
          <a:prstGeom prst="rect">
            <a:avLst/>
          </a:prstGeom>
          <a:noFill/>
          <a:ln/>
        </p:spPr>
        <p:txBody>
          <a:bodyPr wrap="none" lIns="0" tIns="0" rIns="0" bIns="0" rtlCol="0" anchor="t"/>
          <a:lstStyle/>
          <a:p>
            <a:pPr marL="0" indent="0" algn="l">
              <a:lnSpc>
                <a:spcPts val="160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Model learns format and task structure from examples</a:t>
            </a:r>
            <a:endParaRPr lang="en-US" sz="1200" dirty="0">
              <a:latin typeface="Calibri" panose="020F0502020204030204" pitchFamily="34" charset="0"/>
              <a:cs typeface="Calibri" panose="020F0502020204030204" pitchFamily="34" charset="0"/>
            </a:endParaRPr>
          </a:p>
        </p:txBody>
      </p:sp>
      <p:pic>
        <p:nvPicPr>
          <p:cNvPr id="10" name="Image 2" descr="preencoded.png"/>
          <p:cNvPicPr>
            <a:picLocks noChangeAspect="1"/>
          </p:cNvPicPr>
          <p:nvPr/>
        </p:nvPicPr>
        <p:blipFill>
          <a:blip r:embed="rId5"/>
          <a:stretch>
            <a:fillRect/>
          </a:stretch>
        </p:blipFill>
        <p:spPr>
          <a:xfrm>
            <a:off x="9490115" y="2192907"/>
            <a:ext cx="4349948" cy="592574"/>
          </a:xfrm>
          <a:prstGeom prst="rect">
            <a:avLst/>
          </a:prstGeom>
        </p:spPr>
      </p:pic>
      <p:sp>
        <p:nvSpPr>
          <p:cNvPr id="11" name="Text 6"/>
          <p:cNvSpPr/>
          <p:nvPr/>
        </p:nvSpPr>
        <p:spPr>
          <a:xfrm>
            <a:off x="9638228" y="2896090"/>
            <a:ext cx="1852017" cy="231577"/>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Prediction</a:t>
            </a:r>
            <a:endParaRPr lang="en-US" sz="1600" dirty="0">
              <a:latin typeface="Calibri" panose="020F0502020204030204" pitchFamily="34" charset="0"/>
              <a:cs typeface="Calibri" panose="020F0502020204030204" pitchFamily="34" charset="0"/>
            </a:endParaRPr>
          </a:p>
        </p:txBody>
      </p:sp>
      <p:sp>
        <p:nvSpPr>
          <p:cNvPr id="12" name="Text 7"/>
          <p:cNvSpPr/>
          <p:nvPr/>
        </p:nvSpPr>
        <p:spPr>
          <a:xfrm>
            <a:off x="9638228" y="3193985"/>
            <a:ext cx="4053721" cy="206931"/>
          </a:xfrm>
          <a:prstGeom prst="rect">
            <a:avLst/>
          </a:prstGeom>
          <a:noFill/>
          <a:ln/>
        </p:spPr>
        <p:txBody>
          <a:bodyPr wrap="none" lIns="0" tIns="0" rIns="0" bIns="0" rtlCol="0" anchor="t"/>
          <a:lstStyle/>
          <a:p>
            <a:pPr marL="0" indent="0" algn="l">
              <a:lnSpc>
                <a:spcPts val="160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Applies learned patterns to new headline sets</a:t>
            </a:r>
            <a:endParaRPr lang="en-US" sz="1200" dirty="0">
              <a:latin typeface="Calibri" panose="020F0502020204030204" pitchFamily="34" charset="0"/>
              <a:cs typeface="Calibri" panose="020F0502020204030204" pitchFamily="34" charset="0"/>
            </a:endParaRPr>
          </a:p>
        </p:txBody>
      </p:sp>
      <p:sp>
        <p:nvSpPr>
          <p:cNvPr id="13" name="Text 8"/>
          <p:cNvSpPr/>
          <p:nvPr/>
        </p:nvSpPr>
        <p:spPr>
          <a:xfrm>
            <a:off x="938332" y="3607846"/>
            <a:ext cx="1866543" cy="231577"/>
          </a:xfrm>
          <a:prstGeom prst="rect">
            <a:avLst/>
          </a:prstGeom>
          <a:noFill/>
          <a:ln/>
        </p:spPr>
        <p:txBody>
          <a:bodyPr wrap="none" lIns="0" tIns="0" rIns="0" bIns="0" rtlCol="0" anchor="t"/>
          <a:lstStyle/>
          <a:p>
            <a:pPr marL="0" indent="0" algn="l">
              <a:lnSpc>
                <a:spcPts val="1800"/>
              </a:lnSpc>
              <a:buNone/>
            </a:pPr>
            <a:r>
              <a:rPr lang="en-US" b="1" dirty="0">
                <a:solidFill>
                  <a:srgbClr val="152D47"/>
                </a:solidFill>
                <a:latin typeface="Calibri" panose="020F0502020204030204" pitchFamily="34" charset="0"/>
                <a:ea typeface="Crimson Pro Semi Bold" pitchFamily="34" charset="-122"/>
                <a:cs typeface="Calibri" panose="020F0502020204030204" pitchFamily="34" charset="0"/>
              </a:rPr>
              <a:t>Experimental Variations</a:t>
            </a:r>
            <a:endParaRPr lang="en-US" b="1" dirty="0">
              <a:latin typeface="Calibri" panose="020F0502020204030204" pitchFamily="34" charset="0"/>
              <a:cs typeface="Calibri" panose="020F0502020204030204" pitchFamily="34" charset="0"/>
            </a:endParaRPr>
          </a:p>
        </p:txBody>
      </p:sp>
      <p:sp>
        <p:nvSpPr>
          <p:cNvPr id="15" name="Text 10"/>
          <p:cNvSpPr/>
          <p:nvPr/>
        </p:nvSpPr>
        <p:spPr>
          <a:xfrm>
            <a:off x="938332" y="3971794"/>
            <a:ext cx="8403669" cy="943808"/>
          </a:xfrm>
          <a:prstGeom prst="rect">
            <a:avLst/>
          </a:prstGeom>
          <a:noFill/>
          <a:ln/>
        </p:spPr>
        <p:txBody>
          <a:bodyPr wrap="square" lIns="0" tIns="0" rIns="0" bIns="0" rtlCol="0" anchor="t"/>
          <a:lstStyle/>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Number of demonstrations:</a:t>
            </a:r>
            <a:r>
              <a:rPr lang="en-US" dirty="0">
                <a:solidFill>
                  <a:srgbClr val="4C4C4D"/>
                </a:solidFill>
                <a:latin typeface="Calibri" panose="020F0502020204030204" pitchFamily="34" charset="0"/>
                <a:ea typeface="Heebo" pitchFamily="34" charset="-122"/>
                <a:cs typeface="Calibri" panose="020F0502020204030204" pitchFamily="34" charset="0"/>
              </a:rPr>
              <a:t> 2 examples vs. 5 examples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Label correctness:</a:t>
            </a:r>
            <a:r>
              <a:rPr lang="en-US" dirty="0">
                <a:solidFill>
                  <a:srgbClr val="4C4C4D"/>
                </a:solidFill>
                <a:latin typeface="Calibri" panose="020F0502020204030204" pitchFamily="34" charset="0"/>
                <a:ea typeface="Heebo" pitchFamily="34" charset="-122"/>
                <a:cs typeface="Calibri" panose="020F0502020204030204" pitchFamily="34" charset="0"/>
              </a:rPr>
              <a:t> Correct labels vs. intentionally incorrect labels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Example selection:</a:t>
            </a:r>
            <a:r>
              <a:rPr lang="en-US" dirty="0">
                <a:solidFill>
                  <a:srgbClr val="4C4C4D"/>
                </a:solidFill>
                <a:latin typeface="Calibri" panose="020F0502020204030204" pitchFamily="34" charset="0"/>
                <a:ea typeface="Heebo" pitchFamily="34" charset="-122"/>
                <a:cs typeface="Calibri" panose="020F0502020204030204" pitchFamily="34" charset="0"/>
              </a:rPr>
              <a:t> Random vs. curated demonstrations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Formatting:</a:t>
            </a:r>
            <a:r>
              <a:rPr lang="en-US" dirty="0">
                <a:solidFill>
                  <a:srgbClr val="4C4C4D"/>
                </a:solidFill>
                <a:latin typeface="Calibri" panose="020F0502020204030204" pitchFamily="34" charset="0"/>
                <a:ea typeface="Heebo" pitchFamily="34" charset="-122"/>
                <a:cs typeface="Calibri" panose="020F0502020204030204" pitchFamily="34" charset="0"/>
              </a:rPr>
              <a:t> Consistent structure across all demonstrations</a:t>
            </a:r>
            <a:endParaRPr lang="en-US" dirty="0">
              <a:latin typeface="Calibri" panose="020F0502020204030204" pitchFamily="34" charset="0"/>
              <a:cs typeface="Calibri" panose="020F0502020204030204" pitchFamily="34" charset="0"/>
            </a:endParaRPr>
          </a:p>
        </p:txBody>
      </p:sp>
      <p:grpSp>
        <p:nvGrpSpPr>
          <p:cNvPr id="38" name="组合 37">
            <a:extLst>
              <a:ext uri="{FF2B5EF4-FFF2-40B4-BE49-F238E27FC236}">
                <a16:creationId xmlns:a16="http://schemas.microsoft.com/office/drawing/2014/main" id="{540E7BE7-E6B4-4BE2-5382-A5C33B87E1E4}"/>
              </a:ext>
            </a:extLst>
          </p:cNvPr>
          <p:cNvGrpSpPr/>
          <p:nvPr/>
        </p:nvGrpSpPr>
        <p:grpSpPr>
          <a:xfrm>
            <a:off x="9638228" y="3400915"/>
            <a:ext cx="4201835" cy="4464190"/>
            <a:chOff x="7950104" y="1297469"/>
            <a:chExt cx="6354425" cy="6751184"/>
          </a:xfrm>
        </p:grpSpPr>
        <p:pic>
          <p:nvPicPr>
            <p:cNvPr id="35" name="图片 34" descr="文本&#10;&#10;AI 生成的内容可能不正确。">
              <a:extLst>
                <a:ext uri="{FF2B5EF4-FFF2-40B4-BE49-F238E27FC236}">
                  <a16:creationId xmlns:a16="http://schemas.microsoft.com/office/drawing/2014/main" id="{48EFE576-47F8-1E25-C841-6982E94F97C4}"/>
                </a:ext>
              </a:extLst>
            </p:cNvPr>
            <p:cNvPicPr>
              <a:picLocks noChangeAspect="1"/>
            </p:cNvPicPr>
            <p:nvPr/>
          </p:nvPicPr>
          <p:blipFill>
            <a:blip r:embed="rId6"/>
            <a:srcRect b="58748"/>
            <a:stretch>
              <a:fillRect/>
            </a:stretch>
          </p:blipFill>
          <p:spPr>
            <a:xfrm>
              <a:off x="7950794" y="1297469"/>
              <a:ext cx="6353735" cy="3394843"/>
            </a:xfrm>
            <a:prstGeom prst="rect">
              <a:avLst/>
            </a:prstGeom>
          </p:spPr>
        </p:pic>
        <p:pic>
          <p:nvPicPr>
            <p:cNvPr id="36" name="图片 35" descr="文本&#10;&#10;AI 生成的内容可能不正确。">
              <a:extLst>
                <a:ext uri="{FF2B5EF4-FFF2-40B4-BE49-F238E27FC236}">
                  <a16:creationId xmlns:a16="http://schemas.microsoft.com/office/drawing/2014/main" id="{9F245B51-55C9-5E96-CF8C-C4E8EF88C74A}"/>
                </a:ext>
              </a:extLst>
            </p:cNvPr>
            <p:cNvPicPr>
              <a:picLocks noChangeAspect="1"/>
            </p:cNvPicPr>
            <p:nvPr/>
          </p:nvPicPr>
          <p:blipFill>
            <a:blip r:embed="rId6"/>
            <a:srcRect t="65222"/>
            <a:stretch>
              <a:fillRect/>
            </a:stretch>
          </p:blipFill>
          <p:spPr>
            <a:xfrm>
              <a:off x="7950104" y="5186605"/>
              <a:ext cx="6353735" cy="2862048"/>
            </a:xfrm>
            <a:prstGeom prst="rect">
              <a:avLst/>
            </a:prstGeom>
          </p:spPr>
        </p:pic>
      </p:grpSp>
      <p:pic>
        <p:nvPicPr>
          <p:cNvPr id="37" name="图片 36" descr="文本&#10;&#10;AI 生成的内容可能不正确。">
            <a:extLst>
              <a:ext uri="{FF2B5EF4-FFF2-40B4-BE49-F238E27FC236}">
                <a16:creationId xmlns:a16="http://schemas.microsoft.com/office/drawing/2014/main" id="{B7B519FB-1304-1F3C-433D-915B6C9F920D}"/>
              </a:ext>
            </a:extLst>
          </p:cNvPr>
          <p:cNvPicPr>
            <a:picLocks noChangeAspect="1"/>
          </p:cNvPicPr>
          <p:nvPr/>
        </p:nvPicPr>
        <p:blipFill>
          <a:blip r:embed="rId6"/>
          <a:srcRect t="41316" b="34342"/>
          <a:stretch>
            <a:fillRect/>
          </a:stretch>
        </p:blipFill>
        <p:spPr>
          <a:xfrm>
            <a:off x="3283923" y="5100292"/>
            <a:ext cx="6353735" cy="2003245"/>
          </a:xfrm>
          <a:prstGeom prst="rect">
            <a:avLst/>
          </a:prstGeom>
        </p:spPr>
      </p:pic>
      <p:sp>
        <p:nvSpPr>
          <p:cNvPr id="39" name="右箭头 38">
            <a:extLst>
              <a:ext uri="{FF2B5EF4-FFF2-40B4-BE49-F238E27FC236}">
                <a16:creationId xmlns:a16="http://schemas.microsoft.com/office/drawing/2014/main" id="{BA6A43B5-0115-E35A-2F42-69F07E1FD01E}"/>
              </a:ext>
            </a:extLst>
          </p:cNvPr>
          <p:cNvSpPr/>
          <p:nvPr/>
        </p:nvSpPr>
        <p:spPr>
          <a:xfrm>
            <a:off x="9638000" y="5630403"/>
            <a:ext cx="789959" cy="391288"/>
          </a:xfrm>
          <a:prstGeom prst="right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zh-CN" altLang="en-US"/>
          </a:p>
        </p:txBody>
      </p:sp>
      <p:sp>
        <p:nvSpPr>
          <p:cNvPr id="40" name="Text 5">
            <a:extLst>
              <a:ext uri="{FF2B5EF4-FFF2-40B4-BE49-F238E27FC236}">
                <a16:creationId xmlns:a16="http://schemas.microsoft.com/office/drawing/2014/main" id="{DCDC6486-0335-9BE0-AD59-24A0E201325C}"/>
              </a:ext>
            </a:extLst>
          </p:cNvPr>
          <p:cNvSpPr/>
          <p:nvPr/>
        </p:nvSpPr>
        <p:spPr>
          <a:xfrm>
            <a:off x="938332" y="5279550"/>
            <a:ext cx="1612583" cy="201454"/>
          </a:xfrm>
          <a:prstGeom prst="rect">
            <a:avLst/>
          </a:prstGeom>
          <a:noFill/>
          <a:ln/>
        </p:spPr>
        <p:txBody>
          <a:bodyPr wrap="none" lIns="0" tIns="0" rIns="0" bIns="0" rtlCol="0" anchor="t"/>
          <a:lstStyle/>
          <a:p>
            <a:pPr marL="0" indent="0" algn="l">
              <a:lnSpc>
                <a:spcPts val="1550"/>
              </a:lnSpc>
              <a:buNone/>
            </a:pPr>
            <a:r>
              <a:rPr lang="en-US" sz="1600" b="1" dirty="0">
                <a:solidFill>
                  <a:srgbClr val="152D47"/>
                </a:solidFill>
                <a:latin typeface="Calibri" panose="020F0502020204030204" pitchFamily="34" charset="0"/>
                <a:ea typeface="Crimson Pro Semi Bold" pitchFamily="34" charset="-122"/>
                <a:cs typeface="Calibri" panose="020F0502020204030204" pitchFamily="34" charset="0"/>
              </a:rPr>
              <a:t>Models Tested</a:t>
            </a:r>
            <a:endParaRPr lang="en-US" sz="1600" b="1" dirty="0">
              <a:latin typeface="Calibri" panose="020F0502020204030204" pitchFamily="34" charset="0"/>
              <a:cs typeface="Calibri" panose="020F0502020204030204" pitchFamily="34" charset="0"/>
            </a:endParaRPr>
          </a:p>
        </p:txBody>
      </p:sp>
      <p:sp>
        <p:nvSpPr>
          <p:cNvPr id="41" name="Text 6">
            <a:extLst>
              <a:ext uri="{FF2B5EF4-FFF2-40B4-BE49-F238E27FC236}">
                <a16:creationId xmlns:a16="http://schemas.microsoft.com/office/drawing/2014/main" id="{95F84D2A-280A-8C7C-993B-2473C73849DE}"/>
              </a:ext>
            </a:extLst>
          </p:cNvPr>
          <p:cNvSpPr/>
          <p:nvPr/>
        </p:nvSpPr>
        <p:spPr>
          <a:xfrm>
            <a:off x="938332" y="5678184"/>
            <a:ext cx="5696188" cy="569357"/>
          </a:xfrm>
          <a:prstGeom prst="rect">
            <a:avLst/>
          </a:prstGeom>
          <a:noFill/>
          <a:ln/>
        </p:spPr>
        <p:txBody>
          <a:bodyPr wrap="square" lIns="0" tIns="0" rIns="0" bIns="0" rtlCol="0" anchor="t"/>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GPT-3.5</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GPT-4o</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GPT-5.2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D5D7599-9B40-8B10-21B6-727C5D330D0A}"/>
              </a:ext>
            </a:extLst>
          </p:cNvPr>
          <p:cNvSpPr/>
          <p:nvPr/>
        </p:nvSpPr>
        <p:spPr>
          <a:xfrm>
            <a:off x="790218" y="551259"/>
            <a:ext cx="7040642" cy="462915"/>
          </a:xfrm>
          <a:prstGeom prst="rect">
            <a:avLst/>
          </a:prstGeom>
          <a:noFill/>
          <a:ln/>
        </p:spPr>
        <p:txBody>
          <a:bodyPr wrap="none" lIns="0" tIns="0" rIns="0" bIns="0" rtlCol="0" anchor="t"/>
          <a:lstStyle/>
          <a:p>
            <a:pPr>
              <a:lnSpc>
                <a:spcPts val="36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Prompt-Based</a:t>
            </a:r>
            <a:r>
              <a:rPr lang="zh-CN" altLang="en-US" sz="3600" b="1">
                <a:solidFill>
                  <a:srgbClr val="152D47"/>
                </a:solidFill>
                <a:latin typeface="Calibri" panose="020F0502020204030204" pitchFamily="34" charset="0"/>
                <a:ea typeface="Crimson Pro Semi Bold" pitchFamily="34" charset="-122"/>
                <a:cs typeface="Calibri" panose="020F0502020204030204" pitchFamily="34" charset="0"/>
              </a:rPr>
              <a:t> </a:t>
            </a:r>
            <a:r>
              <a:rPr lang="en-US" altLang="zh-CN" sz="3600" b="1" dirty="0">
                <a:solidFill>
                  <a:srgbClr val="152D47"/>
                </a:solidFill>
                <a:latin typeface="Calibri" panose="020F0502020204030204" pitchFamily="34" charset="0"/>
                <a:ea typeface="Crimson Pro Semi Bold" pitchFamily="34" charset="-122"/>
                <a:cs typeface="Calibri" panose="020F0502020204030204" pitchFamily="34" charset="0"/>
              </a:rPr>
              <a:t>Results</a:t>
            </a:r>
            <a:endParaRPr lang="en-US" altLang="zh-CN" sz="3600" dirty="0">
              <a:latin typeface="Calibri" panose="020F0502020204030204" pitchFamily="34" charset="0"/>
              <a:cs typeface="Calibri" panose="020F0502020204030204" pitchFamily="34" charset="0"/>
            </a:endParaRPr>
          </a:p>
          <a:p>
            <a:pPr marL="0" indent="0" algn="l">
              <a:lnSpc>
                <a:spcPts val="3600"/>
              </a:lnSpc>
              <a:buNone/>
            </a:pPr>
            <a:endParaRPr lang="en-US" sz="3600" b="1" dirty="0">
              <a:latin typeface="Calibri" panose="020F0502020204030204" pitchFamily="34" charset="0"/>
              <a:cs typeface="Calibri" panose="020F0502020204030204" pitchFamily="34" charset="0"/>
            </a:endParaRPr>
          </a:p>
        </p:txBody>
      </p:sp>
      <p:graphicFrame>
        <p:nvGraphicFramePr>
          <p:cNvPr id="5" name="表格 4">
            <a:extLst>
              <a:ext uri="{FF2B5EF4-FFF2-40B4-BE49-F238E27FC236}">
                <a16:creationId xmlns:a16="http://schemas.microsoft.com/office/drawing/2014/main" id="{E57C4805-B63A-A13A-E915-E5E15AAC03D0}"/>
              </a:ext>
            </a:extLst>
          </p:cNvPr>
          <p:cNvGraphicFramePr>
            <a:graphicFrameLocks noGrp="1"/>
          </p:cNvGraphicFramePr>
          <p:nvPr>
            <p:extLst>
              <p:ext uri="{D42A27DB-BD31-4B8C-83A1-F6EECF244321}">
                <p14:modId xmlns:p14="http://schemas.microsoft.com/office/powerpoint/2010/main" val="3288159148"/>
              </p:ext>
            </p:extLst>
          </p:nvPr>
        </p:nvGraphicFramePr>
        <p:xfrm>
          <a:off x="790218" y="1249680"/>
          <a:ext cx="6524980" cy="6400800"/>
        </p:xfrm>
        <a:graphic>
          <a:graphicData uri="http://schemas.openxmlformats.org/drawingml/2006/table">
            <a:tbl>
              <a:tblPr firstRow="1" bandRow="1">
                <a:tableStyleId>{F5AB1C69-6EDB-4FF4-983F-18BD219EF322}</a:tableStyleId>
              </a:tblPr>
              <a:tblGrid>
                <a:gridCol w="1631245">
                  <a:extLst>
                    <a:ext uri="{9D8B030D-6E8A-4147-A177-3AD203B41FA5}">
                      <a16:colId xmlns:a16="http://schemas.microsoft.com/office/drawing/2014/main" val="3249065804"/>
                    </a:ext>
                  </a:extLst>
                </a:gridCol>
                <a:gridCol w="1631245">
                  <a:extLst>
                    <a:ext uri="{9D8B030D-6E8A-4147-A177-3AD203B41FA5}">
                      <a16:colId xmlns:a16="http://schemas.microsoft.com/office/drawing/2014/main" val="1419638781"/>
                    </a:ext>
                  </a:extLst>
                </a:gridCol>
                <a:gridCol w="1631245">
                  <a:extLst>
                    <a:ext uri="{9D8B030D-6E8A-4147-A177-3AD203B41FA5}">
                      <a16:colId xmlns:a16="http://schemas.microsoft.com/office/drawing/2014/main" val="3750192108"/>
                    </a:ext>
                  </a:extLst>
                </a:gridCol>
                <a:gridCol w="1631245">
                  <a:extLst>
                    <a:ext uri="{9D8B030D-6E8A-4147-A177-3AD203B41FA5}">
                      <a16:colId xmlns:a16="http://schemas.microsoft.com/office/drawing/2014/main" val="3234463183"/>
                    </a:ext>
                  </a:extLst>
                </a:gridCol>
              </a:tblGrid>
              <a:tr h="670560">
                <a:tc gridSpan="4">
                  <a:txBody>
                    <a:bodyPr/>
                    <a:lstStyle/>
                    <a:p>
                      <a:r>
                        <a:rPr lang="en-US" altLang="zh-CN" b="0" dirty="0">
                          <a:solidFill>
                            <a:schemeClr val="tx1"/>
                          </a:solidFill>
                        </a:rPr>
                        <a:t>Results for Prompt-Based Approaches with Different GPT models, the Number of Demonstrations, and Whether We Intentionally Provide Incorrect Solutions in the Demonstration</a:t>
                      </a:r>
                      <a:endParaRPr lang="en-US" altLang="zh-CN" b="0" dirty="0">
                        <a:solidFill>
                          <a:schemeClr val="tx1"/>
                        </a:solidFill>
                        <a:latin typeface="Calibri" panose="020F0502020204030204" pitchFamily="34" charset="0"/>
                        <a:cs typeface="Calibri" panose="020F0502020204030204" pitchFamily="34" charset="0"/>
                      </a:endParaRPr>
                    </a:p>
                  </a:txBody>
                  <a:tcPr>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2267956305"/>
                  </a:ext>
                </a:extLst>
              </a:tr>
              <a:tr h="268224">
                <a:tc>
                  <a:txBody>
                    <a:bodyPr/>
                    <a:lstStyle/>
                    <a:p>
                      <a:pPr algn="ctr">
                        <a:buNone/>
                      </a:pPr>
                      <a:r>
                        <a:rPr lang="en-US" b="1" dirty="0">
                          <a:solidFill>
                            <a:schemeClr val="tx1"/>
                          </a:solidFill>
                        </a:rPr>
                        <a:t>Model</a:t>
                      </a:r>
                      <a:endParaRPr lang="en-US" b="1"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solidFill>
                            <a:schemeClr val="tx1"/>
                          </a:solidFill>
                        </a:rPr>
                        <a:t>n</a:t>
                      </a:r>
                      <a:r>
                        <a:rPr lang="en-US" b="1" baseline="-25000" dirty="0">
                          <a:solidFill>
                            <a:schemeClr val="tx1"/>
                          </a:solidFill>
                        </a:rPr>
                        <a:t>demo</a:t>
                      </a:r>
                      <a:endParaRPr lang="en-US" b="1" baseline="-25000"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solidFill>
                            <a:schemeClr val="tx1"/>
                          </a:solidFill>
                        </a:rPr>
                        <a:t>Incorrect label</a:t>
                      </a:r>
                      <a:endParaRPr lang="en-US" b="1"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solidFill>
                            <a:schemeClr val="tx1"/>
                          </a:solidFill>
                        </a:rPr>
                        <a:t>Accuracy (%)</a:t>
                      </a:r>
                      <a:endParaRPr lang="en-US" b="1"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587327"/>
                  </a:ext>
                </a:extLst>
              </a:tr>
              <a:tr h="268224">
                <a:tc>
                  <a:txBody>
                    <a:bodyPr/>
                    <a:lstStyle/>
                    <a:p>
                      <a:pPr algn="ctr">
                        <a:buNone/>
                      </a:pPr>
                      <a:r>
                        <a:rPr lang="en-US" dirty="0">
                          <a:solidFill>
                            <a:schemeClr val="tx1"/>
                          </a:solidFill>
                        </a:rPr>
                        <a:t>Random guess</a:t>
                      </a:r>
                      <a:endParaRPr lang="en-US"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u="none" strike="noStrike" kern="1200" cap="none" spc="0" normalizeH="0" baseline="0" noProof="0" dirty="0">
                          <a:ln>
                            <a:noFill/>
                          </a:ln>
                          <a:solidFill>
                            <a:schemeClr val="tx1"/>
                          </a:solidFill>
                          <a:effectLst/>
                          <a:uLnTx/>
                          <a:uFillTx/>
                        </a:rPr>
                        <a:t>—</a:t>
                      </a:r>
                      <a:endParaRPr kumimoji="0" lang="en-US" altLang="zh-CN" sz="1800" b="0" i="0" u="none" strike="noStrike" kern="1200" cap="none" spc="0" normalizeH="0" baseline="0" noProof="0" dirty="0">
                        <a:ln>
                          <a:noFill/>
                        </a:ln>
                        <a:solidFill>
                          <a:schemeClr val="tx1"/>
                        </a:solidFill>
                        <a:effectLst/>
                        <a:uLnTx/>
                        <a:uFillTx/>
                        <a:latin typeface="Calibri" panose="020F0502020204030204" pitchFamily="34" charset="0"/>
                        <a:ea typeface="等线" panose="02010600030101010101" pitchFamily="2" charset="-122"/>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u="none" strike="noStrike" kern="1200" cap="none" spc="0" normalizeH="0" baseline="0" noProof="0" dirty="0">
                          <a:ln>
                            <a:noFill/>
                          </a:ln>
                          <a:solidFill>
                            <a:schemeClr val="tx1"/>
                          </a:solidFill>
                          <a:effectLst/>
                          <a:uLnTx/>
                          <a:uFillTx/>
                        </a:rPr>
                        <a:t>—</a:t>
                      </a:r>
                      <a:endParaRPr kumimoji="0" lang="en-US" altLang="zh-CN" sz="1800" b="0" i="0" u="none" strike="noStrike" kern="1200" cap="none" spc="0" normalizeH="0" baseline="0" noProof="0" dirty="0">
                        <a:ln>
                          <a:noFill/>
                        </a:ln>
                        <a:solidFill>
                          <a:schemeClr val="tx1"/>
                        </a:solidFill>
                        <a:effectLst/>
                        <a:uLnTx/>
                        <a:uFillTx/>
                        <a:latin typeface="Calibri" panose="020F0502020204030204" pitchFamily="34" charset="0"/>
                        <a:ea typeface="等线" panose="02010600030101010101" pitchFamily="2" charset="-122"/>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buNone/>
                      </a:pPr>
                      <a:r>
                        <a:rPr lang="en-US" altLang="zh-CN" dirty="0">
                          <a:solidFill>
                            <a:schemeClr val="tx1"/>
                          </a:solidFill>
                        </a:rPr>
                        <a:t>33.02</a:t>
                      </a:r>
                      <a:endParaRPr lang="en-US" altLang="zh-CN"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4267528142"/>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29.76</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1129441484"/>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34.23</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30044470"/>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31.60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4142249530"/>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30.95</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1350074330"/>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30.59</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3871026443"/>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37.85</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243022487"/>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b="0" dirty="0">
                          <a:solidFill>
                            <a:schemeClr val="tx1"/>
                          </a:solidFill>
                        </a:rPr>
                        <a:t>39.96</a:t>
                      </a:r>
                      <a:endParaRPr lang="zh-CN" altLang="en-US" b="0"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360484163"/>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38.77</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548328707"/>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39.17</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157933712"/>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38.28</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478439230"/>
                  </a:ext>
                </a:extLst>
              </a:tr>
              <a:tr h="268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GPT-5.2</a:t>
                      </a:r>
                      <a:endParaRPr lang="en-US" altLang="zh-CN"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buNone/>
                      </a:pPr>
                      <a:r>
                        <a:rPr lang="en-US" altLang="zh-CN" dirty="0">
                          <a:solidFill>
                            <a:schemeClr val="tx1"/>
                          </a:solidFill>
                        </a:rPr>
                        <a:t>—</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r>
                        <a:rPr lang="en-US" altLang="zh-CN" dirty="0">
                          <a:solidFill>
                            <a:schemeClr val="tx1"/>
                          </a:solidFill>
                        </a:rPr>
                        <a:t>40.82</a:t>
                      </a:r>
                      <a:endParaRPr lang="zh-CN" altLang="en-US">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extLst>
                  <a:ext uri="{0D108BD9-81ED-4DB2-BD59-A6C34878D82A}">
                    <a16:rowId xmlns:a16="http://schemas.microsoft.com/office/drawing/2014/main" val="3231031315"/>
                  </a:ext>
                </a:extLst>
              </a:tr>
              <a:tr h="268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GPT-5.2</a:t>
                      </a:r>
                      <a:endParaRPr lang="en-US" altLang="zh-CN"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r>
                        <a:rPr lang="en-US" altLang="zh-CN" dirty="0">
                          <a:solidFill>
                            <a:schemeClr val="tx1"/>
                          </a:solidFill>
                        </a:rPr>
                        <a:t>41.62</a:t>
                      </a:r>
                      <a:endParaRPr lang="zh-CN" altLang="en-US">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extLst>
                  <a:ext uri="{0D108BD9-81ED-4DB2-BD59-A6C34878D82A}">
                    <a16:rowId xmlns:a16="http://schemas.microsoft.com/office/drawing/2014/main" val="2079698867"/>
                  </a:ext>
                </a:extLst>
              </a:tr>
              <a:tr h="268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GPT-5.2</a:t>
                      </a:r>
                      <a:endParaRPr lang="en-US" altLang="zh-CN"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r>
                        <a:rPr lang="en-US" altLang="zh-CN" dirty="0">
                          <a:solidFill>
                            <a:schemeClr val="tx1"/>
                          </a:solidFill>
                          <a:latin typeface="Calibri" panose="020F0502020204030204" pitchFamily="34" charset="0"/>
                          <a:cs typeface="Calibri" panose="020F0502020204030204" pitchFamily="34" charset="0"/>
                        </a:rPr>
                        <a:t>40.73</a:t>
                      </a:r>
                      <a:endParaRPr lang="zh-CN" altLang="en-US"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extLst>
                  <a:ext uri="{0D108BD9-81ED-4DB2-BD59-A6C34878D82A}">
                    <a16:rowId xmlns:a16="http://schemas.microsoft.com/office/drawing/2014/main" val="2477876440"/>
                  </a:ext>
                </a:extLst>
              </a:tr>
            </a:tbl>
          </a:graphicData>
        </a:graphic>
      </p:graphicFrame>
      <p:sp>
        <p:nvSpPr>
          <p:cNvPr id="13" name="文本框 12">
            <a:extLst>
              <a:ext uri="{FF2B5EF4-FFF2-40B4-BE49-F238E27FC236}">
                <a16:creationId xmlns:a16="http://schemas.microsoft.com/office/drawing/2014/main" id="{9C032BA8-EF78-BAA5-7CE1-F448F90339A9}"/>
              </a:ext>
            </a:extLst>
          </p:cNvPr>
          <p:cNvSpPr txBox="1"/>
          <p:nvPr/>
        </p:nvSpPr>
        <p:spPr>
          <a:xfrm>
            <a:off x="7830860" y="2741920"/>
            <a:ext cx="5871285" cy="4185761"/>
          </a:xfrm>
          <a:prstGeom prst="rect">
            <a:avLst/>
          </a:prstGeom>
          <a:noFill/>
        </p:spPr>
        <p:txBody>
          <a:bodyPr wrap="square">
            <a:spAutoFit/>
          </a:bodyPr>
          <a:lstStyle/>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Performance improves with model scale (GPT-3.5 → GPT-4 → GPT-5.2), but remains capped at around 42%.</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GPT-3.5 performs at or below random guess, whereas GPT-4 and GPT-5.2 consistently outperform it.</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In-context learning slightly improves performance over zero-shot prompting.</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Increasing demonstrations from 2 to 5 does not meaningfully improve accuracy.</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Providing incorrect labels in demonstrations has little effect on performance.</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Even the best-performing configuration remains only moderately above random guess.</a:t>
            </a:r>
          </a:p>
        </p:txBody>
      </p:sp>
      <p:sp>
        <p:nvSpPr>
          <p:cNvPr id="14" name="Text 8">
            <a:extLst>
              <a:ext uri="{FF2B5EF4-FFF2-40B4-BE49-F238E27FC236}">
                <a16:creationId xmlns:a16="http://schemas.microsoft.com/office/drawing/2014/main" id="{BD6B0121-1C84-8F03-FAAE-8C8F943EE1E3}"/>
              </a:ext>
            </a:extLst>
          </p:cNvPr>
          <p:cNvSpPr/>
          <p:nvPr/>
        </p:nvSpPr>
        <p:spPr>
          <a:xfrm>
            <a:off x="9761219" y="2217391"/>
            <a:ext cx="1866543" cy="231577"/>
          </a:xfrm>
          <a:prstGeom prst="rect">
            <a:avLst/>
          </a:prstGeom>
          <a:noFill/>
          <a:ln/>
        </p:spPr>
        <p:txBody>
          <a:bodyPr wrap="none" lIns="0" tIns="0" rIns="0" bIns="0" rtlCol="0" anchor="t"/>
          <a:lstStyle/>
          <a:p>
            <a:pPr marL="0" indent="0" algn="l">
              <a:lnSpc>
                <a:spcPts val="1800"/>
              </a:lnSpc>
              <a:buNone/>
            </a:pPr>
            <a:r>
              <a:rPr lang="en-US" b="1" dirty="0">
                <a:solidFill>
                  <a:srgbClr val="152D47"/>
                </a:solidFill>
                <a:latin typeface="Calibri" panose="020F0502020204030204" pitchFamily="34" charset="0"/>
                <a:ea typeface="Crimson Pro Semi Bold" pitchFamily="34" charset="-122"/>
                <a:cs typeface="Calibri" panose="020F0502020204030204" pitchFamily="34" charset="0"/>
              </a:rPr>
              <a:t>Main Takeaways</a:t>
            </a:r>
          </a:p>
        </p:txBody>
      </p:sp>
      <p:sp>
        <p:nvSpPr>
          <p:cNvPr id="18" name="圆角矩形 17">
            <a:extLst>
              <a:ext uri="{FF2B5EF4-FFF2-40B4-BE49-F238E27FC236}">
                <a16:creationId xmlns:a16="http://schemas.microsoft.com/office/drawing/2014/main" id="{51CC1ACF-E23E-B458-B3E9-515A92FA3DB8}"/>
              </a:ext>
            </a:extLst>
          </p:cNvPr>
          <p:cNvSpPr/>
          <p:nvPr/>
        </p:nvSpPr>
        <p:spPr>
          <a:xfrm>
            <a:off x="7548800" y="2135227"/>
            <a:ext cx="6291382" cy="35337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1773159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89503" y="551140"/>
            <a:ext cx="7982188" cy="524232"/>
          </a:xfrm>
          <a:prstGeom prst="rect">
            <a:avLst/>
          </a:prstGeom>
          <a:noFill/>
          <a:ln/>
        </p:spPr>
        <p:txBody>
          <a:bodyPr wrap="none" lIns="0" tIns="0" rIns="0" bIns="0" rtlCol="0" anchor="t"/>
          <a:lstStyle/>
          <a:p>
            <a:pPr marL="0" indent="0" algn="l">
              <a:lnSpc>
                <a:spcPts val="41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Embedding-Based CTR Prediction Framework</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89503" y="1358979"/>
            <a:ext cx="13051393" cy="495300"/>
          </a:xfrm>
          <a:prstGeom prst="rect">
            <a:avLst/>
          </a:prstGeom>
          <a:noFill/>
          <a:ln/>
        </p:spPr>
        <p:txBody>
          <a:bodyPr wrap="square" lIns="0" tIns="0" rIns="0" bIns="0" rtlCol="0" anchor="t"/>
          <a:lstStyle/>
          <a:p>
            <a:pPr marL="0" indent="0" algn="l">
              <a:lnSpc>
                <a:spcPts val="1950"/>
              </a:lnSpc>
              <a:buNone/>
            </a:pPr>
            <a:r>
              <a:rPr lang="en-US" dirty="0">
                <a:solidFill>
                  <a:srgbClr val="4C4C4D"/>
                </a:solidFill>
                <a:latin typeface="Calibri" panose="020F0502020204030204" pitchFamily="34" charset="0"/>
                <a:ea typeface="Heebo" pitchFamily="34" charset="-122"/>
                <a:cs typeface="Calibri" panose="020F0502020204030204" pitchFamily="34" charset="0"/>
              </a:rPr>
              <a:t>The third approach represents a fundamentally different paradigm: rather than asking the LLM to directly predict the best headline, this method uses LLMs as </a:t>
            </a:r>
            <a:r>
              <a:rPr lang="en-US" b="1" dirty="0">
                <a:solidFill>
                  <a:srgbClr val="4C4C4D"/>
                </a:solidFill>
                <a:latin typeface="Calibri" panose="020F0502020204030204" pitchFamily="34" charset="0"/>
                <a:ea typeface="Heebo" pitchFamily="34" charset="-122"/>
                <a:cs typeface="Calibri" panose="020F0502020204030204" pitchFamily="34" charset="0"/>
              </a:rPr>
              <a:t>feature extractors</a:t>
            </a:r>
            <a:r>
              <a:rPr lang="en-US" dirty="0">
                <a:solidFill>
                  <a:srgbClr val="4C4C4D"/>
                </a:solidFill>
                <a:latin typeface="Calibri" panose="020F0502020204030204" pitchFamily="34" charset="0"/>
                <a:ea typeface="Heebo" pitchFamily="34" charset="-122"/>
                <a:cs typeface="Calibri" panose="020F0502020204030204" pitchFamily="34" charset="0"/>
              </a:rPr>
              <a:t> to create rich semantic embeddings, which are then fed into traditional supervised learning models for CTR prediction.</a:t>
            </a:r>
            <a:endParaRPr lang="en-US" dirty="0">
              <a:latin typeface="Calibri" panose="020F0502020204030204" pitchFamily="34" charset="0"/>
              <a:cs typeface="Calibri" panose="020F0502020204030204" pitchFamily="34" charset="0"/>
            </a:endParaRPr>
          </a:p>
        </p:txBody>
      </p:sp>
      <p:pic>
        <p:nvPicPr>
          <p:cNvPr id="4" name="Image 0" descr="preencoded.png"/>
          <p:cNvPicPr>
            <a:picLocks noChangeAspect="1"/>
          </p:cNvPicPr>
          <p:nvPr/>
        </p:nvPicPr>
        <p:blipFill>
          <a:blip r:embed="rId3"/>
          <a:stretch>
            <a:fillRect/>
          </a:stretch>
        </p:blipFill>
        <p:spPr>
          <a:xfrm>
            <a:off x="789503" y="2517100"/>
            <a:ext cx="4255889" cy="1143000"/>
          </a:xfrm>
          <a:prstGeom prst="rect">
            <a:avLst/>
          </a:prstGeom>
        </p:spPr>
      </p:pic>
      <p:sp>
        <p:nvSpPr>
          <p:cNvPr id="5" name="Text 2"/>
          <p:cNvSpPr/>
          <p:nvPr/>
        </p:nvSpPr>
        <p:spPr>
          <a:xfrm>
            <a:off x="957263" y="3162181"/>
            <a:ext cx="3133725" cy="314563"/>
          </a:xfrm>
          <a:prstGeom prst="rect">
            <a:avLst/>
          </a:prstGeom>
          <a:noFill/>
          <a:ln/>
        </p:spPr>
        <p:txBody>
          <a:bodyPr wrap="none" lIns="0" tIns="0" rIns="0" bIns="0" rtlCol="0" anchor="t"/>
          <a:lstStyle/>
          <a:p>
            <a:pPr marL="0" indent="0" algn="l">
              <a:lnSpc>
                <a:spcPts val="2450"/>
              </a:lnSpc>
              <a:buNone/>
            </a:pPr>
            <a:r>
              <a:rPr lang="en-US" sz="2000" dirty="0">
                <a:solidFill>
                  <a:srgbClr val="4C4C4D"/>
                </a:solidFill>
                <a:latin typeface="Calibri" panose="020F0502020204030204" pitchFamily="34" charset="0"/>
                <a:ea typeface="Crimson Pro Semi Bold" pitchFamily="34" charset="-122"/>
                <a:cs typeface="Calibri" panose="020F0502020204030204" pitchFamily="34" charset="0"/>
              </a:rPr>
              <a:t>Step 1: Embedding Generation</a:t>
            </a:r>
            <a:endParaRPr lang="en-US" sz="2000" dirty="0">
              <a:latin typeface="Calibri" panose="020F0502020204030204" pitchFamily="34" charset="0"/>
              <a:cs typeface="Calibri" panose="020F0502020204030204" pitchFamily="34" charset="0"/>
            </a:endParaRPr>
          </a:p>
        </p:txBody>
      </p:sp>
      <p:sp>
        <p:nvSpPr>
          <p:cNvPr id="6" name="Text 3"/>
          <p:cNvSpPr/>
          <p:nvPr/>
        </p:nvSpPr>
        <p:spPr>
          <a:xfrm>
            <a:off x="957263" y="3561755"/>
            <a:ext cx="3920371" cy="1238250"/>
          </a:xfrm>
          <a:prstGeom prst="rect">
            <a:avLst/>
          </a:prstGeom>
          <a:noFill/>
          <a:ln/>
        </p:spPr>
        <p:txBody>
          <a:bodyPr wrap="square" lIns="0" tIns="0" rIns="0" bIns="0" rtlCol="0" anchor="t"/>
          <a:lstStyle/>
          <a:p>
            <a:pPr marL="0" indent="0" algn="l">
              <a:lnSpc>
                <a:spcPts val="195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Convert each headline into a dense vector representation using OpenAI's embedding model. The embedding captures semantic meaning, tone, sentiment, and other linguistic features in a fixed-dimensional space.</a:t>
            </a:r>
            <a:endParaRPr lang="en-US" sz="1600" dirty="0">
              <a:latin typeface="Calibri" panose="020F0502020204030204" pitchFamily="34" charset="0"/>
              <a:cs typeface="Calibri" panose="020F0502020204030204" pitchFamily="34" charset="0"/>
            </a:endParaRPr>
          </a:p>
        </p:txBody>
      </p:sp>
      <p:pic>
        <p:nvPicPr>
          <p:cNvPr id="7" name="Image 1" descr="preencoded.png"/>
          <p:cNvPicPr>
            <a:picLocks noChangeAspect="1"/>
          </p:cNvPicPr>
          <p:nvPr/>
        </p:nvPicPr>
        <p:blipFill>
          <a:blip r:embed="rId3"/>
          <a:stretch>
            <a:fillRect/>
          </a:stretch>
        </p:blipFill>
        <p:spPr>
          <a:xfrm>
            <a:off x="5187196" y="2265402"/>
            <a:ext cx="4255889" cy="1143000"/>
          </a:xfrm>
          <a:prstGeom prst="rect">
            <a:avLst/>
          </a:prstGeom>
        </p:spPr>
      </p:pic>
      <p:sp>
        <p:nvSpPr>
          <p:cNvPr id="8" name="Text 4"/>
          <p:cNvSpPr/>
          <p:nvPr/>
        </p:nvSpPr>
        <p:spPr>
          <a:xfrm>
            <a:off x="5354955" y="2910483"/>
            <a:ext cx="2516505" cy="314563"/>
          </a:xfrm>
          <a:prstGeom prst="rect">
            <a:avLst/>
          </a:prstGeom>
          <a:noFill/>
          <a:ln/>
        </p:spPr>
        <p:txBody>
          <a:bodyPr wrap="none" lIns="0" tIns="0" rIns="0" bIns="0" rtlCol="0" anchor="t"/>
          <a:lstStyle/>
          <a:p>
            <a:pPr marL="0" indent="0" algn="l">
              <a:lnSpc>
                <a:spcPts val="2450"/>
              </a:lnSpc>
              <a:buNone/>
            </a:pPr>
            <a:r>
              <a:rPr lang="en-US" sz="2000" dirty="0">
                <a:solidFill>
                  <a:srgbClr val="4C4C4D"/>
                </a:solidFill>
                <a:latin typeface="Calibri" panose="020F0502020204030204" pitchFamily="34" charset="0"/>
                <a:ea typeface="Crimson Pro Semi Bold" pitchFamily="34" charset="-122"/>
                <a:cs typeface="Calibri" panose="020F0502020204030204" pitchFamily="34" charset="0"/>
              </a:rPr>
              <a:t>Step 2: Model Training</a:t>
            </a:r>
            <a:endParaRPr lang="en-US" sz="2000" dirty="0">
              <a:latin typeface="Calibri" panose="020F0502020204030204" pitchFamily="34" charset="0"/>
              <a:cs typeface="Calibri" panose="020F0502020204030204" pitchFamily="34" charset="0"/>
            </a:endParaRPr>
          </a:p>
        </p:txBody>
      </p:sp>
      <p:sp>
        <p:nvSpPr>
          <p:cNvPr id="9" name="Text 5"/>
          <p:cNvSpPr/>
          <p:nvPr/>
        </p:nvSpPr>
        <p:spPr>
          <a:xfrm>
            <a:off x="5354955" y="3310057"/>
            <a:ext cx="3920371" cy="1485900"/>
          </a:xfrm>
          <a:prstGeom prst="rect">
            <a:avLst/>
          </a:prstGeom>
          <a:noFill/>
          <a:ln/>
        </p:spPr>
        <p:txBody>
          <a:bodyPr wrap="square" lIns="0" tIns="0" rIns="0" bIns="0" rtlCol="0" anchor="t"/>
          <a:lstStyle/>
          <a:p>
            <a:pPr marL="0" indent="0" algn="l">
              <a:lnSpc>
                <a:spcPts val="195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Use the generated embeddings as input features for supervised machine learning models. The researchers tested both linear regression and multilayer perceptron (MLP) architectures, training on historical headline-test pairs with known CTR outcomes.</a:t>
            </a:r>
            <a:endParaRPr lang="en-US" sz="1600" dirty="0">
              <a:latin typeface="Calibri" panose="020F0502020204030204" pitchFamily="34" charset="0"/>
              <a:cs typeface="Calibri" panose="020F0502020204030204" pitchFamily="34" charset="0"/>
            </a:endParaRPr>
          </a:p>
        </p:txBody>
      </p:sp>
      <p:pic>
        <p:nvPicPr>
          <p:cNvPr id="10" name="Image 2" descr="preencoded.png"/>
          <p:cNvPicPr>
            <a:picLocks noChangeAspect="1"/>
          </p:cNvPicPr>
          <p:nvPr/>
        </p:nvPicPr>
        <p:blipFill>
          <a:blip r:embed="rId4"/>
          <a:stretch>
            <a:fillRect/>
          </a:stretch>
        </p:blipFill>
        <p:spPr>
          <a:xfrm>
            <a:off x="9584888" y="2013823"/>
            <a:ext cx="4256008" cy="1143000"/>
          </a:xfrm>
          <a:prstGeom prst="rect">
            <a:avLst/>
          </a:prstGeom>
        </p:spPr>
      </p:pic>
      <p:sp>
        <p:nvSpPr>
          <p:cNvPr id="11" name="Text 6"/>
          <p:cNvSpPr/>
          <p:nvPr/>
        </p:nvSpPr>
        <p:spPr>
          <a:xfrm>
            <a:off x="9752648" y="2658904"/>
            <a:ext cx="3065740" cy="314563"/>
          </a:xfrm>
          <a:prstGeom prst="rect">
            <a:avLst/>
          </a:prstGeom>
          <a:noFill/>
          <a:ln/>
        </p:spPr>
        <p:txBody>
          <a:bodyPr wrap="none" lIns="0" tIns="0" rIns="0" bIns="0" rtlCol="0" anchor="t"/>
          <a:lstStyle/>
          <a:p>
            <a:pPr marL="0" indent="0" algn="l">
              <a:lnSpc>
                <a:spcPts val="2450"/>
              </a:lnSpc>
              <a:buNone/>
            </a:pPr>
            <a:r>
              <a:rPr lang="en-US" sz="2000" dirty="0">
                <a:solidFill>
                  <a:srgbClr val="4C4C4D"/>
                </a:solidFill>
                <a:latin typeface="Calibri" panose="020F0502020204030204" pitchFamily="34" charset="0"/>
                <a:ea typeface="Crimson Pro Semi Bold" pitchFamily="34" charset="-122"/>
                <a:cs typeface="Calibri" panose="020F0502020204030204" pitchFamily="34" charset="0"/>
              </a:rPr>
              <a:t>Step 3: Prediction &amp; Selection</a:t>
            </a:r>
            <a:endParaRPr lang="en-US" sz="2000" dirty="0">
              <a:latin typeface="Calibri" panose="020F0502020204030204" pitchFamily="34" charset="0"/>
              <a:cs typeface="Calibri" panose="020F0502020204030204" pitchFamily="34" charset="0"/>
            </a:endParaRPr>
          </a:p>
        </p:txBody>
      </p:sp>
      <p:sp>
        <p:nvSpPr>
          <p:cNvPr id="12" name="Text 7"/>
          <p:cNvSpPr/>
          <p:nvPr/>
        </p:nvSpPr>
        <p:spPr>
          <a:xfrm>
            <a:off x="9752648" y="3058478"/>
            <a:ext cx="3920490" cy="990600"/>
          </a:xfrm>
          <a:prstGeom prst="rect">
            <a:avLst/>
          </a:prstGeom>
          <a:noFill/>
          <a:ln/>
        </p:spPr>
        <p:txBody>
          <a:bodyPr wrap="square" lIns="0" tIns="0" rIns="0" bIns="0" rtlCol="0" anchor="t"/>
          <a:lstStyle/>
          <a:p>
            <a:pPr marL="0" indent="0" algn="l">
              <a:lnSpc>
                <a:spcPts val="195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For each new A/B test, generate embeddings for all headline options, predict CTR for each using the trained model, and select the headline with the highest predicted CTR.</a:t>
            </a:r>
            <a:endParaRPr lang="en-US" sz="1600" dirty="0">
              <a:latin typeface="Calibri" panose="020F0502020204030204" pitchFamily="34" charset="0"/>
              <a:cs typeface="Calibri" panose="020F0502020204030204" pitchFamily="34" charset="0"/>
            </a:endParaRPr>
          </a:p>
        </p:txBody>
      </p:sp>
      <p:pic>
        <p:nvPicPr>
          <p:cNvPr id="19" name="图片 18" descr="图示&#10;&#10;AI 生成的内容可能不正确。">
            <a:extLst>
              <a:ext uri="{FF2B5EF4-FFF2-40B4-BE49-F238E27FC236}">
                <a16:creationId xmlns:a16="http://schemas.microsoft.com/office/drawing/2014/main" id="{809A9575-83AB-B294-02EF-9C9DE1A0A78D}"/>
              </a:ext>
            </a:extLst>
          </p:cNvPr>
          <p:cNvPicPr>
            <a:picLocks noChangeAspect="1"/>
          </p:cNvPicPr>
          <p:nvPr/>
        </p:nvPicPr>
        <p:blipFill>
          <a:blip r:embed="rId5"/>
          <a:stretch>
            <a:fillRect/>
          </a:stretch>
        </p:blipFill>
        <p:spPr>
          <a:xfrm>
            <a:off x="1981789" y="4880968"/>
            <a:ext cx="10666701" cy="31927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69990"/>
            <a:ext cx="4017288" cy="465177"/>
          </a:xfrm>
          <a:prstGeom prst="rect">
            <a:avLst/>
          </a:prstGeom>
          <a:noFill/>
          <a:ln/>
        </p:spPr>
        <p:txBody>
          <a:bodyPr wrap="none" lIns="0" tIns="0" rIns="0" bIns="0" rtlCol="0" anchor="t"/>
          <a:lstStyle/>
          <a:p>
            <a:pPr marL="0" indent="0" algn="l">
              <a:lnSpc>
                <a:spcPts val="36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Embedding-Based Results</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3790" y="1558409"/>
            <a:ext cx="13042821" cy="416719"/>
          </a:xfrm>
          <a:prstGeom prst="rect">
            <a:avLst/>
          </a:prstGeom>
          <a:noFill/>
          <a:ln/>
        </p:spPr>
        <p:txBody>
          <a:bodyPr wrap="square" lIns="0" tIns="0" rIns="0" bIns="0" rtlCol="0" anchor="t"/>
          <a:lstStyle/>
          <a:p>
            <a:pPr marL="0" indent="0" algn="l">
              <a:lnSpc>
                <a:spcPts val="1600"/>
              </a:lnSpc>
              <a:buNone/>
            </a:pPr>
            <a:r>
              <a:rPr lang="en-US" dirty="0">
                <a:solidFill>
                  <a:srgbClr val="4C4C4D"/>
                </a:solidFill>
                <a:latin typeface="Calibri" panose="020F0502020204030204" pitchFamily="34" charset="0"/>
                <a:ea typeface="Heebo" pitchFamily="34" charset="-122"/>
                <a:cs typeface="Calibri" panose="020F0502020204030204" pitchFamily="34" charset="0"/>
              </a:rPr>
              <a:t>The following table summarizes performance across different embedding dimensionality and model architectures:</a:t>
            </a:r>
            <a:endParaRPr lang="en-US" dirty="0">
              <a:latin typeface="Calibri" panose="020F0502020204030204" pitchFamily="34" charset="0"/>
              <a:cs typeface="Calibri" panose="020F0502020204030204" pitchFamily="34" charset="0"/>
            </a:endParaRPr>
          </a:p>
        </p:txBody>
      </p:sp>
      <p:sp>
        <p:nvSpPr>
          <p:cNvPr id="4" name="Shape 2"/>
          <p:cNvSpPr/>
          <p:nvPr/>
        </p:nvSpPr>
        <p:spPr>
          <a:xfrm>
            <a:off x="793789" y="1948868"/>
            <a:ext cx="13042821" cy="1802368"/>
          </a:xfrm>
          <a:prstGeom prst="roundRect">
            <a:avLst>
              <a:gd name="adj" fmla="val 1239"/>
            </a:avLst>
          </a:prstGeom>
          <a:noFill/>
          <a:ln w="7620">
            <a:solidFill>
              <a:srgbClr val="000000">
                <a:alpha val="8000"/>
              </a:srgbClr>
            </a:solidFill>
            <a:prstDash val="solid"/>
          </a:ln>
        </p:spPr>
        <p:txBody>
          <a:bodyPr/>
          <a:lstStyle/>
          <a:p>
            <a:endParaRPr lang="zh-CN" altLang="en-US" sz="1600">
              <a:latin typeface="Calibri" panose="020F0502020204030204" pitchFamily="34" charset="0"/>
              <a:cs typeface="Calibri" panose="020F0502020204030204" pitchFamily="34" charset="0"/>
            </a:endParaRPr>
          </a:p>
        </p:txBody>
      </p:sp>
      <p:sp>
        <p:nvSpPr>
          <p:cNvPr id="5" name="Shape 3"/>
          <p:cNvSpPr/>
          <p:nvPr/>
        </p:nvSpPr>
        <p:spPr>
          <a:xfrm>
            <a:off x="801409" y="1956488"/>
            <a:ext cx="13027581" cy="357426"/>
          </a:xfrm>
          <a:prstGeom prst="rect">
            <a:avLst/>
          </a:prstGeom>
          <a:solidFill>
            <a:srgbClr val="FFFFFF">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6" name="Text 4"/>
          <p:cNvSpPr/>
          <p:nvPr/>
        </p:nvSpPr>
        <p:spPr>
          <a:xfrm>
            <a:off x="950356" y="2031021"/>
            <a:ext cx="3606760" cy="208359"/>
          </a:xfrm>
          <a:prstGeom prst="rect">
            <a:avLst/>
          </a:prstGeom>
          <a:noFill/>
          <a:ln/>
        </p:spPr>
        <p:txBody>
          <a:bodyPr wrap="none" lIns="0" tIns="0" rIns="0" bIns="0" rtlCol="0" anchor="t"/>
          <a:lstStyle/>
          <a:p>
            <a:pPr marL="0" indent="0" algn="l">
              <a:lnSpc>
                <a:spcPts val="1600"/>
              </a:lnSpc>
              <a:buNone/>
            </a:pPr>
            <a:r>
              <a:rPr lang="en-US" sz="1600" b="1" dirty="0">
                <a:solidFill>
                  <a:srgbClr val="4C4C4D"/>
                </a:solidFill>
                <a:latin typeface="Calibri" panose="020F0502020204030204" pitchFamily="34" charset="0"/>
                <a:ea typeface="Heebo" pitchFamily="34" charset="-122"/>
                <a:cs typeface="Calibri" panose="020F0502020204030204" pitchFamily="34" charset="0"/>
              </a:rPr>
              <a:t>Embedding Model</a:t>
            </a:r>
            <a:endParaRPr lang="en-US" sz="1600" dirty="0">
              <a:latin typeface="Calibri" panose="020F0502020204030204" pitchFamily="34" charset="0"/>
              <a:cs typeface="Calibri" panose="020F0502020204030204" pitchFamily="34" charset="0"/>
            </a:endParaRPr>
          </a:p>
        </p:txBody>
      </p:sp>
      <p:sp>
        <p:nvSpPr>
          <p:cNvPr id="7" name="Text 5"/>
          <p:cNvSpPr/>
          <p:nvPr/>
        </p:nvSpPr>
        <p:spPr>
          <a:xfrm>
            <a:off x="4862392" y="2031021"/>
            <a:ext cx="4254341" cy="208359"/>
          </a:xfrm>
          <a:prstGeom prst="rect">
            <a:avLst/>
          </a:prstGeom>
          <a:noFill/>
          <a:ln/>
        </p:spPr>
        <p:txBody>
          <a:bodyPr wrap="none" lIns="0" tIns="0" rIns="0" bIns="0" rtlCol="0" anchor="t"/>
          <a:lstStyle/>
          <a:p>
            <a:pPr marL="0" indent="0" algn="l">
              <a:lnSpc>
                <a:spcPts val="1600"/>
              </a:lnSpc>
              <a:buNone/>
            </a:pPr>
            <a:r>
              <a:rPr lang="en-US" sz="1600" b="1" dirty="0">
                <a:solidFill>
                  <a:srgbClr val="4C4C4D"/>
                </a:solidFill>
                <a:latin typeface="Calibri" panose="020F0502020204030204" pitchFamily="34" charset="0"/>
                <a:ea typeface="Heebo" pitchFamily="34" charset="-122"/>
                <a:cs typeface="Calibri" panose="020F0502020204030204" pitchFamily="34" charset="0"/>
              </a:rPr>
              <a:t>Architecture</a:t>
            </a:r>
            <a:endParaRPr lang="en-US" sz="1600" dirty="0">
              <a:latin typeface="Calibri" panose="020F0502020204030204" pitchFamily="34" charset="0"/>
              <a:cs typeface="Calibri" panose="020F0502020204030204" pitchFamily="34" charset="0"/>
            </a:endParaRPr>
          </a:p>
        </p:txBody>
      </p:sp>
      <p:sp>
        <p:nvSpPr>
          <p:cNvPr id="8" name="Text 6"/>
          <p:cNvSpPr/>
          <p:nvPr/>
        </p:nvSpPr>
        <p:spPr>
          <a:xfrm>
            <a:off x="9422010" y="2031021"/>
            <a:ext cx="4258151" cy="208359"/>
          </a:xfrm>
          <a:prstGeom prst="rect">
            <a:avLst/>
          </a:prstGeom>
          <a:noFill/>
          <a:ln/>
        </p:spPr>
        <p:txBody>
          <a:bodyPr wrap="none" lIns="0" tIns="0" rIns="0" bIns="0" rtlCol="0" anchor="t"/>
          <a:lstStyle/>
          <a:p>
            <a:pPr marL="0" indent="0" algn="l">
              <a:lnSpc>
                <a:spcPts val="1600"/>
              </a:lnSpc>
              <a:buNone/>
            </a:pPr>
            <a:r>
              <a:rPr lang="en-US" sz="1600" b="1" dirty="0">
                <a:solidFill>
                  <a:srgbClr val="4C4C4D"/>
                </a:solidFill>
                <a:latin typeface="Calibri" panose="020F0502020204030204" pitchFamily="34" charset="0"/>
                <a:ea typeface="Heebo" pitchFamily="34" charset="-122"/>
                <a:cs typeface="Calibri" panose="020F0502020204030204" pitchFamily="34" charset="0"/>
              </a:rPr>
              <a:t>Accuracy</a:t>
            </a:r>
            <a:endParaRPr lang="en-US" sz="1600" dirty="0">
              <a:latin typeface="Calibri" panose="020F0502020204030204" pitchFamily="34" charset="0"/>
              <a:cs typeface="Calibri" panose="020F0502020204030204" pitchFamily="34" charset="0"/>
            </a:endParaRPr>
          </a:p>
        </p:txBody>
      </p:sp>
      <p:sp>
        <p:nvSpPr>
          <p:cNvPr id="9" name="Shape 7"/>
          <p:cNvSpPr/>
          <p:nvPr/>
        </p:nvSpPr>
        <p:spPr>
          <a:xfrm>
            <a:off x="801409" y="2313913"/>
            <a:ext cx="13027581" cy="357426"/>
          </a:xfrm>
          <a:prstGeom prst="rect">
            <a:avLst/>
          </a:prstGeom>
          <a:solidFill>
            <a:srgbClr val="000000">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10" name="Text 8"/>
          <p:cNvSpPr/>
          <p:nvPr/>
        </p:nvSpPr>
        <p:spPr>
          <a:xfrm>
            <a:off x="950356" y="2388446"/>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256-dimensional</a:t>
            </a:r>
            <a:endParaRPr lang="en-US" sz="1600" dirty="0">
              <a:latin typeface="Calibri" panose="020F0502020204030204" pitchFamily="34" charset="0"/>
              <a:cs typeface="Calibri" panose="020F0502020204030204" pitchFamily="34" charset="0"/>
            </a:endParaRPr>
          </a:p>
        </p:txBody>
      </p:sp>
      <p:sp>
        <p:nvSpPr>
          <p:cNvPr id="11" name="Text 9"/>
          <p:cNvSpPr/>
          <p:nvPr/>
        </p:nvSpPr>
        <p:spPr>
          <a:xfrm>
            <a:off x="4862392" y="2388446"/>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Linear regression</a:t>
            </a:r>
            <a:endParaRPr lang="en-US" sz="1600" dirty="0">
              <a:latin typeface="Calibri" panose="020F0502020204030204" pitchFamily="34" charset="0"/>
              <a:cs typeface="Calibri" panose="020F0502020204030204" pitchFamily="34" charset="0"/>
            </a:endParaRPr>
          </a:p>
        </p:txBody>
      </p:sp>
      <p:sp>
        <p:nvSpPr>
          <p:cNvPr id="12" name="Text 10"/>
          <p:cNvSpPr/>
          <p:nvPr/>
        </p:nvSpPr>
        <p:spPr>
          <a:xfrm>
            <a:off x="9422010" y="2388446"/>
            <a:ext cx="4258151" cy="208359"/>
          </a:xfrm>
          <a:prstGeom prst="rect">
            <a:avLst/>
          </a:prstGeom>
          <a:noFill/>
          <a:ln/>
        </p:spPr>
        <p:txBody>
          <a:bodyPr wrap="none" lIns="0" tIns="0" rIns="0" bIns="0" rtlCol="0" anchor="t"/>
          <a:lstStyle/>
          <a:p>
            <a:pPr marL="0" indent="0" algn="l">
              <a:lnSpc>
                <a:spcPts val="1600"/>
              </a:lnSpc>
              <a:buNone/>
            </a:pPr>
            <a:r>
              <a:rPr lang="en-US" sz="1600" b="1" dirty="0">
                <a:solidFill>
                  <a:srgbClr val="2150FE"/>
                </a:solidFill>
                <a:latin typeface="Calibri" panose="020F0502020204030204" pitchFamily="34" charset="0"/>
                <a:ea typeface="Heebo" pitchFamily="34" charset="-122"/>
                <a:cs typeface="Calibri" panose="020F0502020204030204" pitchFamily="34" charset="0"/>
              </a:rPr>
              <a:t>~46.28%</a:t>
            </a:r>
            <a:r>
              <a:rPr lang="zh-CN" altLang="en-US" sz="1600" b="1">
                <a:solidFill>
                  <a:srgbClr val="2150FE"/>
                </a:solidFill>
                <a:latin typeface="Calibri" panose="020F0502020204030204" pitchFamily="34" charset="0"/>
                <a:ea typeface="Heebo" pitchFamily="34" charset="-122"/>
                <a:cs typeface="Calibri" panose="020F0502020204030204" pitchFamily="34" charset="0"/>
              </a:rPr>
              <a:t> </a:t>
            </a:r>
            <a:r>
              <a:rPr lang="en-US" altLang="zh-CN" sz="1600" b="1" dirty="0">
                <a:solidFill>
                  <a:srgbClr val="2150FE"/>
                </a:solidFill>
                <a:latin typeface="Calibri" panose="020F0502020204030204" pitchFamily="34" charset="0"/>
                <a:ea typeface="Heebo" pitchFamily="34" charset="-122"/>
                <a:cs typeface="Calibri" panose="020F0502020204030204" pitchFamily="34" charset="0"/>
              </a:rPr>
              <a:t> </a:t>
            </a:r>
            <a:r>
              <a:rPr lang="en-US" altLang="zh-CN" sz="1600" b="1" dirty="0">
                <a:solidFill>
                  <a:schemeClr val="accent2"/>
                </a:solidFill>
                <a:latin typeface="Calibri" panose="020F0502020204030204" pitchFamily="34" charset="0"/>
                <a:ea typeface="Heebo" pitchFamily="34" charset="-122"/>
                <a:cs typeface="Calibri" panose="020F0502020204030204" pitchFamily="34" charset="0"/>
              </a:rPr>
              <a:t>(46.12%)</a:t>
            </a:r>
            <a:endParaRPr lang="en-US" sz="1600" dirty="0">
              <a:solidFill>
                <a:schemeClr val="accent2"/>
              </a:solidFill>
              <a:latin typeface="Calibri" panose="020F0502020204030204" pitchFamily="34" charset="0"/>
              <a:cs typeface="Calibri" panose="020F0502020204030204" pitchFamily="34" charset="0"/>
            </a:endParaRPr>
          </a:p>
        </p:txBody>
      </p:sp>
      <p:sp>
        <p:nvSpPr>
          <p:cNvPr id="13" name="Shape 11"/>
          <p:cNvSpPr/>
          <p:nvPr/>
        </p:nvSpPr>
        <p:spPr>
          <a:xfrm>
            <a:off x="801409" y="2671339"/>
            <a:ext cx="13027581" cy="357426"/>
          </a:xfrm>
          <a:prstGeom prst="rect">
            <a:avLst/>
          </a:prstGeom>
          <a:solidFill>
            <a:srgbClr val="FFFFFF">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14" name="Text 12"/>
          <p:cNvSpPr/>
          <p:nvPr/>
        </p:nvSpPr>
        <p:spPr>
          <a:xfrm>
            <a:off x="950356" y="2745872"/>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256-dimensional</a:t>
            </a:r>
            <a:endParaRPr lang="en-US" sz="1600" dirty="0">
              <a:latin typeface="Calibri" panose="020F0502020204030204" pitchFamily="34" charset="0"/>
              <a:cs typeface="Calibri" panose="020F0502020204030204" pitchFamily="34" charset="0"/>
            </a:endParaRPr>
          </a:p>
        </p:txBody>
      </p:sp>
      <p:sp>
        <p:nvSpPr>
          <p:cNvPr id="15" name="Text 13"/>
          <p:cNvSpPr/>
          <p:nvPr/>
        </p:nvSpPr>
        <p:spPr>
          <a:xfrm>
            <a:off x="4862392" y="2745872"/>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Multilayer perceptron (MLP)</a:t>
            </a:r>
            <a:endParaRPr lang="en-US" sz="1600" dirty="0">
              <a:latin typeface="Calibri" panose="020F0502020204030204" pitchFamily="34" charset="0"/>
              <a:cs typeface="Calibri" panose="020F0502020204030204" pitchFamily="34" charset="0"/>
            </a:endParaRPr>
          </a:p>
        </p:txBody>
      </p:sp>
      <p:sp>
        <p:nvSpPr>
          <p:cNvPr id="16" name="Text 14"/>
          <p:cNvSpPr/>
          <p:nvPr/>
        </p:nvSpPr>
        <p:spPr>
          <a:xfrm>
            <a:off x="9422010" y="2745872"/>
            <a:ext cx="425815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~44.00%</a:t>
            </a:r>
            <a:endParaRPr lang="en-US" sz="1600" dirty="0">
              <a:latin typeface="Calibri" panose="020F0502020204030204" pitchFamily="34" charset="0"/>
              <a:cs typeface="Calibri" panose="020F0502020204030204" pitchFamily="34" charset="0"/>
            </a:endParaRPr>
          </a:p>
        </p:txBody>
      </p:sp>
      <p:sp>
        <p:nvSpPr>
          <p:cNvPr id="17" name="Shape 15"/>
          <p:cNvSpPr/>
          <p:nvPr/>
        </p:nvSpPr>
        <p:spPr>
          <a:xfrm>
            <a:off x="801409" y="3028765"/>
            <a:ext cx="13027581" cy="357426"/>
          </a:xfrm>
          <a:prstGeom prst="rect">
            <a:avLst/>
          </a:prstGeom>
          <a:solidFill>
            <a:srgbClr val="000000">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18" name="Text 16"/>
          <p:cNvSpPr/>
          <p:nvPr/>
        </p:nvSpPr>
        <p:spPr>
          <a:xfrm>
            <a:off x="950356" y="3103298"/>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3072-dimensional</a:t>
            </a:r>
            <a:endParaRPr lang="en-US" sz="1600" dirty="0">
              <a:latin typeface="Calibri" panose="020F0502020204030204" pitchFamily="34" charset="0"/>
              <a:cs typeface="Calibri" panose="020F0502020204030204" pitchFamily="34" charset="0"/>
            </a:endParaRPr>
          </a:p>
        </p:txBody>
      </p:sp>
      <p:sp>
        <p:nvSpPr>
          <p:cNvPr id="19" name="Text 17"/>
          <p:cNvSpPr/>
          <p:nvPr/>
        </p:nvSpPr>
        <p:spPr>
          <a:xfrm>
            <a:off x="4862392" y="3103298"/>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Linear regression</a:t>
            </a:r>
            <a:endParaRPr lang="en-US" sz="1600" dirty="0">
              <a:latin typeface="Calibri" panose="020F0502020204030204" pitchFamily="34" charset="0"/>
              <a:cs typeface="Calibri" panose="020F0502020204030204" pitchFamily="34" charset="0"/>
            </a:endParaRPr>
          </a:p>
        </p:txBody>
      </p:sp>
      <p:sp>
        <p:nvSpPr>
          <p:cNvPr id="20" name="Text 18"/>
          <p:cNvSpPr/>
          <p:nvPr/>
        </p:nvSpPr>
        <p:spPr>
          <a:xfrm>
            <a:off x="9422010" y="3103298"/>
            <a:ext cx="425815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~43.00%</a:t>
            </a:r>
            <a:endParaRPr lang="en-US" sz="1600" dirty="0">
              <a:latin typeface="Calibri" panose="020F0502020204030204" pitchFamily="34" charset="0"/>
              <a:cs typeface="Calibri" panose="020F0502020204030204" pitchFamily="34" charset="0"/>
            </a:endParaRPr>
          </a:p>
        </p:txBody>
      </p:sp>
      <p:sp>
        <p:nvSpPr>
          <p:cNvPr id="21" name="Shape 19"/>
          <p:cNvSpPr/>
          <p:nvPr/>
        </p:nvSpPr>
        <p:spPr>
          <a:xfrm>
            <a:off x="801409" y="3386190"/>
            <a:ext cx="13027581" cy="357426"/>
          </a:xfrm>
          <a:prstGeom prst="rect">
            <a:avLst/>
          </a:prstGeom>
          <a:solidFill>
            <a:srgbClr val="FFFFFF">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22" name="Text 20"/>
          <p:cNvSpPr/>
          <p:nvPr/>
        </p:nvSpPr>
        <p:spPr>
          <a:xfrm>
            <a:off x="950356" y="3460723"/>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3072-dimensional</a:t>
            </a:r>
            <a:endParaRPr lang="en-US" sz="1600" dirty="0">
              <a:latin typeface="Calibri" panose="020F0502020204030204" pitchFamily="34" charset="0"/>
              <a:cs typeface="Calibri" panose="020F0502020204030204" pitchFamily="34" charset="0"/>
            </a:endParaRPr>
          </a:p>
        </p:txBody>
      </p:sp>
      <p:sp>
        <p:nvSpPr>
          <p:cNvPr id="23" name="Text 21"/>
          <p:cNvSpPr/>
          <p:nvPr/>
        </p:nvSpPr>
        <p:spPr>
          <a:xfrm>
            <a:off x="4862392" y="3460723"/>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Multilayer perceptron (MLP)</a:t>
            </a:r>
            <a:endParaRPr lang="en-US" sz="1600" dirty="0">
              <a:latin typeface="Calibri" panose="020F0502020204030204" pitchFamily="34" charset="0"/>
              <a:cs typeface="Calibri" panose="020F0502020204030204" pitchFamily="34" charset="0"/>
            </a:endParaRPr>
          </a:p>
        </p:txBody>
      </p:sp>
      <p:sp>
        <p:nvSpPr>
          <p:cNvPr id="24" name="Text 22"/>
          <p:cNvSpPr/>
          <p:nvPr/>
        </p:nvSpPr>
        <p:spPr>
          <a:xfrm>
            <a:off x="9422010" y="3460723"/>
            <a:ext cx="4258151" cy="208359"/>
          </a:xfrm>
          <a:prstGeom prst="rect">
            <a:avLst/>
          </a:prstGeom>
          <a:noFill/>
          <a:ln/>
        </p:spPr>
        <p:txBody>
          <a:bodyPr wrap="none" lIns="0" tIns="0" rIns="0" bIns="0" rtlCol="0" anchor="t"/>
          <a:lstStyle/>
          <a:p>
            <a:pPr marL="0" indent="0" algn="l">
              <a:lnSpc>
                <a:spcPts val="1600"/>
              </a:lnSpc>
              <a:buNone/>
            </a:pPr>
            <a:r>
              <a:rPr lang="en-US" sz="1600" b="1" dirty="0">
                <a:solidFill>
                  <a:srgbClr val="2150FE"/>
                </a:solidFill>
                <a:latin typeface="Calibri" panose="020F0502020204030204" pitchFamily="34" charset="0"/>
                <a:ea typeface="Heebo" pitchFamily="34" charset="-122"/>
                <a:cs typeface="Calibri" panose="020F0502020204030204" pitchFamily="34" charset="0"/>
              </a:rPr>
              <a:t>~45.00%</a:t>
            </a:r>
            <a:endParaRPr lang="en-US" sz="1600" dirty="0">
              <a:latin typeface="Calibri" panose="020F0502020204030204" pitchFamily="34" charset="0"/>
              <a:cs typeface="Calibri" panose="020F0502020204030204" pitchFamily="34" charset="0"/>
            </a:endParaRPr>
          </a:p>
        </p:txBody>
      </p:sp>
      <p:sp>
        <p:nvSpPr>
          <p:cNvPr id="25" name="Shape 23"/>
          <p:cNvSpPr/>
          <p:nvPr/>
        </p:nvSpPr>
        <p:spPr>
          <a:xfrm>
            <a:off x="793789" y="3919537"/>
            <a:ext cx="13042821" cy="26194"/>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26" name="Text 24"/>
          <p:cNvSpPr/>
          <p:nvPr/>
        </p:nvSpPr>
        <p:spPr>
          <a:xfrm>
            <a:off x="793790" y="4283870"/>
            <a:ext cx="2232779" cy="278963"/>
          </a:xfrm>
          <a:prstGeom prst="rect">
            <a:avLst/>
          </a:prstGeom>
          <a:noFill/>
          <a:ln/>
        </p:spPr>
        <p:txBody>
          <a:bodyPr wrap="none" lIns="0" tIns="0" rIns="0" bIns="0" rtlCol="0" anchor="t"/>
          <a:lstStyle/>
          <a:p>
            <a:pPr marL="0" indent="0" algn="l">
              <a:lnSpc>
                <a:spcPts val="2150"/>
              </a:lnSpc>
              <a:buNone/>
            </a:pPr>
            <a:r>
              <a:rPr lang="en-US" sz="2000" b="1" dirty="0">
                <a:solidFill>
                  <a:srgbClr val="152D47"/>
                </a:solidFill>
                <a:latin typeface="Calibri" panose="020F0502020204030204" pitchFamily="34" charset="0"/>
                <a:ea typeface="Crimson Pro Semi Bold" pitchFamily="34" charset="-122"/>
                <a:cs typeface="Calibri" panose="020F0502020204030204" pitchFamily="34" charset="0"/>
              </a:rPr>
              <a:t>Key Observations</a:t>
            </a:r>
            <a:endParaRPr lang="en-US" sz="2000" b="1" dirty="0">
              <a:latin typeface="Calibri" panose="020F0502020204030204" pitchFamily="34" charset="0"/>
              <a:cs typeface="Calibri" panose="020F0502020204030204" pitchFamily="34" charset="0"/>
            </a:endParaRPr>
          </a:p>
        </p:txBody>
      </p:sp>
      <p:sp>
        <p:nvSpPr>
          <p:cNvPr id="27" name="Shape 25"/>
          <p:cNvSpPr/>
          <p:nvPr/>
        </p:nvSpPr>
        <p:spPr>
          <a:xfrm>
            <a:off x="793790" y="4730236"/>
            <a:ext cx="6465570"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28" name="Text 26"/>
          <p:cNvSpPr/>
          <p:nvPr/>
        </p:nvSpPr>
        <p:spPr>
          <a:xfrm>
            <a:off x="957858" y="4894304"/>
            <a:ext cx="2433399"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Supervised Learning Advantage</a:t>
            </a:r>
            <a:endParaRPr lang="en-US" sz="1600" dirty="0">
              <a:latin typeface="Calibri" panose="020F0502020204030204" pitchFamily="34" charset="0"/>
              <a:cs typeface="Calibri" panose="020F0502020204030204" pitchFamily="34" charset="0"/>
            </a:endParaRPr>
          </a:p>
        </p:txBody>
      </p:sp>
      <p:sp>
        <p:nvSpPr>
          <p:cNvPr id="29" name="Text 27"/>
          <p:cNvSpPr/>
          <p:nvPr/>
        </p:nvSpPr>
        <p:spPr>
          <a:xfrm>
            <a:off x="957858" y="5193746"/>
            <a:ext cx="6137434"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Embedding-based models achieved 43-46% accuracy, substantially outperforming prompting methods (37-40%). This demonstrates the value of learning from large labeled datasets rather than relying solely on LLM general knowledge.</a:t>
            </a:r>
            <a:endParaRPr lang="en-US" sz="1400" dirty="0">
              <a:latin typeface="Calibri" panose="020F0502020204030204" pitchFamily="34" charset="0"/>
              <a:cs typeface="Calibri" panose="020F0502020204030204" pitchFamily="34" charset="0"/>
            </a:endParaRPr>
          </a:p>
        </p:txBody>
      </p:sp>
      <p:sp>
        <p:nvSpPr>
          <p:cNvPr id="30" name="Shape 28"/>
          <p:cNvSpPr/>
          <p:nvPr/>
        </p:nvSpPr>
        <p:spPr>
          <a:xfrm>
            <a:off x="7370921" y="4730236"/>
            <a:ext cx="6465689"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31" name="Text 29"/>
          <p:cNvSpPr/>
          <p:nvPr/>
        </p:nvSpPr>
        <p:spPr>
          <a:xfrm>
            <a:off x="7534989" y="4894304"/>
            <a:ext cx="2217658"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Linear Models Compete Well</a:t>
            </a:r>
            <a:endParaRPr lang="en-US" sz="1600" dirty="0">
              <a:latin typeface="Calibri" panose="020F0502020204030204" pitchFamily="34" charset="0"/>
              <a:cs typeface="Calibri" panose="020F0502020204030204" pitchFamily="34" charset="0"/>
            </a:endParaRPr>
          </a:p>
        </p:txBody>
      </p:sp>
      <p:sp>
        <p:nvSpPr>
          <p:cNvPr id="32" name="Text 30"/>
          <p:cNvSpPr/>
          <p:nvPr/>
        </p:nvSpPr>
        <p:spPr>
          <a:xfrm>
            <a:off x="7534989" y="5193746"/>
            <a:ext cx="6137553"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Simple linear regression performed competitively with more complex MLP architectures, suggesting that the embedding space captures features that are largely linearly separable for this task.</a:t>
            </a:r>
            <a:endParaRPr lang="en-US" sz="1400" dirty="0">
              <a:latin typeface="Calibri" panose="020F0502020204030204" pitchFamily="34" charset="0"/>
              <a:cs typeface="Calibri" panose="020F0502020204030204" pitchFamily="34" charset="0"/>
            </a:endParaRPr>
          </a:p>
        </p:txBody>
      </p:sp>
      <p:sp>
        <p:nvSpPr>
          <p:cNvPr id="33" name="Shape 31"/>
          <p:cNvSpPr/>
          <p:nvPr/>
        </p:nvSpPr>
        <p:spPr>
          <a:xfrm>
            <a:off x="793790" y="6094454"/>
            <a:ext cx="6465570"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34" name="Text 32"/>
          <p:cNvSpPr/>
          <p:nvPr/>
        </p:nvSpPr>
        <p:spPr>
          <a:xfrm>
            <a:off x="957858" y="6258522"/>
            <a:ext cx="2120265"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Dimensionality Not Critical</a:t>
            </a:r>
            <a:endParaRPr lang="en-US" sz="1600" dirty="0">
              <a:latin typeface="Calibri" panose="020F0502020204030204" pitchFamily="34" charset="0"/>
              <a:cs typeface="Calibri" panose="020F0502020204030204" pitchFamily="34" charset="0"/>
            </a:endParaRPr>
          </a:p>
        </p:txBody>
      </p:sp>
      <p:sp>
        <p:nvSpPr>
          <p:cNvPr id="35" name="Text 33"/>
          <p:cNvSpPr/>
          <p:nvPr/>
        </p:nvSpPr>
        <p:spPr>
          <a:xfrm>
            <a:off x="957858" y="6557964"/>
            <a:ext cx="6137434"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Higher-dimensional embeddings (3072-dim) did not consistently outperform lower-dimensional ones (256-dim), indicating that the additional dimensions may contain noise or irrelevant information for headline prediction.</a:t>
            </a:r>
            <a:endParaRPr lang="en-US" sz="1400" dirty="0">
              <a:latin typeface="Calibri" panose="020F0502020204030204" pitchFamily="34" charset="0"/>
              <a:cs typeface="Calibri" panose="020F0502020204030204" pitchFamily="34" charset="0"/>
            </a:endParaRPr>
          </a:p>
        </p:txBody>
      </p:sp>
      <p:sp>
        <p:nvSpPr>
          <p:cNvPr id="36" name="Shape 34"/>
          <p:cNvSpPr/>
          <p:nvPr/>
        </p:nvSpPr>
        <p:spPr>
          <a:xfrm>
            <a:off x="7370921" y="6094454"/>
            <a:ext cx="6465689"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37" name="Text 35"/>
          <p:cNvSpPr/>
          <p:nvPr/>
        </p:nvSpPr>
        <p:spPr>
          <a:xfrm>
            <a:off x="7534989" y="6258522"/>
            <a:ext cx="1860590"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Architecture Trade-offs</a:t>
            </a:r>
            <a:endParaRPr lang="en-US" sz="1600" dirty="0">
              <a:latin typeface="Calibri" panose="020F0502020204030204" pitchFamily="34" charset="0"/>
              <a:cs typeface="Calibri" panose="020F0502020204030204" pitchFamily="34" charset="0"/>
            </a:endParaRPr>
          </a:p>
        </p:txBody>
      </p:sp>
      <p:sp>
        <p:nvSpPr>
          <p:cNvPr id="38" name="Text 36"/>
          <p:cNvSpPr/>
          <p:nvPr/>
        </p:nvSpPr>
        <p:spPr>
          <a:xfrm>
            <a:off x="7534989" y="6557964"/>
            <a:ext cx="6137553"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MLPs showed slightly better performance with 3072-dim embeddings but worse with 256-dim, suggesting complex models require sufficient feature dimensionality to avoid overfitting on limited signal.</a:t>
            </a:r>
            <a:endParaRPr lang="en-US" sz="1400" dirty="0">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9852" y="433596"/>
            <a:ext cx="4424839" cy="365522"/>
          </a:xfrm>
          <a:prstGeom prst="rect">
            <a:avLst/>
          </a:prstGeom>
          <a:noFill/>
          <a:ln/>
        </p:spPr>
        <p:txBody>
          <a:bodyPr wrap="none" lIns="0" tIns="0" rIns="0" bIns="0" rtlCol="0" anchor="t"/>
          <a:lstStyle/>
          <a:p>
            <a:pPr marL="0" indent="0" algn="l">
              <a:lnSpc>
                <a:spcPts val="28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Interpretation of Embedding Results</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19852" y="979370"/>
            <a:ext cx="4253032" cy="292418"/>
          </a:xfrm>
          <a:prstGeom prst="rect">
            <a:avLst/>
          </a:prstGeom>
          <a:noFill/>
          <a:ln/>
        </p:spPr>
        <p:txBody>
          <a:bodyPr wrap="none" lIns="0" tIns="0" rIns="0" bIns="0" rtlCol="0" anchor="t"/>
          <a:lstStyle/>
          <a:p>
            <a:pPr marL="0" indent="0" algn="l">
              <a:lnSpc>
                <a:spcPts val="230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Why Embeddings Outperformed Prompting</a:t>
            </a:r>
            <a:endParaRPr lang="en-US" sz="2400" dirty="0">
              <a:latin typeface="Calibri" panose="020F0502020204030204" pitchFamily="34" charset="0"/>
              <a:cs typeface="Calibri" panose="020F0502020204030204" pitchFamily="34" charset="0"/>
            </a:endParaRPr>
          </a:p>
        </p:txBody>
      </p:sp>
      <p:sp>
        <p:nvSpPr>
          <p:cNvPr id="4" name="Shape 2"/>
          <p:cNvSpPr/>
          <p:nvPr/>
        </p:nvSpPr>
        <p:spPr>
          <a:xfrm>
            <a:off x="709374" y="1492811"/>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5" name="Text 3"/>
          <p:cNvSpPr/>
          <p:nvPr/>
        </p:nvSpPr>
        <p:spPr>
          <a:xfrm>
            <a:off x="836771" y="1430720"/>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Large Labeled Dataset</a:t>
            </a:r>
            <a:endParaRPr lang="en-US" sz="1600" dirty="0">
              <a:latin typeface="Calibri" panose="020F0502020204030204" pitchFamily="34" charset="0"/>
              <a:cs typeface="Calibri" panose="020F0502020204030204" pitchFamily="34" charset="0"/>
            </a:endParaRPr>
          </a:p>
        </p:txBody>
      </p:sp>
      <p:sp>
        <p:nvSpPr>
          <p:cNvPr id="6" name="Text 4"/>
          <p:cNvSpPr/>
          <p:nvPr/>
        </p:nvSpPr>
        <p:spPr>
          <a:xfrm>
            <a:off x="836771" y="1682418"/>
            <a:ext cx="6325314" cy="297418"/>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Supervised learning leveraged 17,681 labeled tests, enabling the model to learn patterns specific to headline appeal rather than relying on general knowledge</a:t>
            </a:r>
            <a:endParaRPr lang="en-US" sz="1200" dirty="0">
              <a:latin typeface="Calibri" panose="020F0502020204030204" pitchFamily="34" charset="0"/>
              <a:cs typeface="Calibri" panose="020F0502020204030204" pitchFamily="34" charset="0"/>
            </a:endParaRPr>
          </a:p>
        </p:txBody>
      </p:sp>
      <p:sp>
        <p:nvSpPr>
          <p:cNvPr id="7" name="Shape 5"/>
          <p:cNvSpPr/>
          <p:nvPr/>
        </p:nvSpPr>
        <p:spPr>
          <a:xfrm>
            <a:off x="709374" y="2179801"/>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8" name="Text 6"/>
          <p:cNvSpPr/>
          <p:nvPr/>
        </p:nvSpPr>
        <p:spPr>
          <a:xfrm>
            <a:off x="836771" y="2117710"/>
            <a:ext cx="1723192"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Task-Specific Decision Rules</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836771" y="2369408"/>
            <a:ext cx="6325314" cy="148709"/>
          </a:xfrm>
          <a:prstGeom prst="rect">
            <a:avLst/>
          </a:prstGeom>
          <a:noFill/>
          <a:ln/>
        </p:spPr>
        <p:txBody>
          <a:bodyPr wrap="non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The model learned which embedding dimensions and combinations predict high CTR in this specific domain</a:t>
            </a:r>
            <a:endParaRPr lang="en-US" sz="1200" dirty="0">
              <a:latin typeface="Calibri" panose="020F0502020204030204" pitchFamily="34" charset="0"/>
              <a:cs typeface="Calibri" panose="020F0502020204030204" pitchFamily="34" charset="0"/>
            </a:endParaRPr>
          </a:p>
        </p:txBody>
      </p:sp>
      <p:sp>
        <p:nvSpPr>
          <p:cNvPr id="10" name="Shape 8"/>
          <p:cNvSpPr/>
          <p:nvPr/>
        </p:nvSpPr>
        <p:spPr>
          <a:xfrm>
            <a:off x="709374" y="2718083"/>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11" name="Text 9"/>
          <p:cNvSpPr/>
          <p:nvPr/>
        </p:nvSpPr>
        <p:spPr>
          <a:xfrm>
            <a:off x="836771" y="2655992"/>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Robust Generalization</a:t>
            </a:r>
            <a:endParaRPr lang="en-US" sz="1600" dirty="0">
              <a:latin typeface="Calibri" panose="020F0502020204030204" pitchFamily="34" charset="0"/>
              <a:cs typeface="Calibri" panose="020F0502020204030204" pitchFamily="34" charset="0"/>
            </a:endParaRPr>
          </a:p>
        </p:txBody>
      </p:sp>
      <p:sp>
        <p:nvSpPr>
          <p:cNvPr id="12" name="Text 10"/>
          <p:cNvSpPr/>
          <p:nvPr/>
        </p:nvSpPr>
        <p:spPr>
          <a:xfrm>
            <a:off x="836771" y="2907690"/>
            <a:ext cx="6325314" cy="148709"/>
          </a:xfrm>
          <a:prstGeom prst="rect">
            <a:avLst/>
          </a:prstGeom>
          <a:noFill/>
          <a:ln/>
        </p:spPr>
        <p:txBody>
          <a:bodyPr wrap="non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Training on diverse headline sets created models that generalize better to new, unseen headline variations</a:t>
            </a:r>
            <a:endParaRPr lang="en-US" sz="1200" dirty="0">
              <a:latin typeface="Calibri" panose="020F0502020204030204" pitchFamily="34" charset="0"/>
              <a:cs typeface="Calibri" panose="020F0502020204030204" pitchFamily="34" charset="0"/>
            </a:endParaRPr>
          </a:p>
        </p:txBody>
      </p:sp>
      <p:sp>
        <p:nvSpPr>
          <p:cNvPr id="13" name="Shape 11"/>
          <p:cNvSpPr/>
          <p:nvPr/>
        </p:nvSpPr>
        <p:spPr>
          <a:xfrm>
            <a:off x="709374" y="3256364"/>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14" name="Text 12"/>
          <p:cNvSpPr/>
          <p:nvPr/>
        </p:nvSpPr>
        <p:spPr>
          <a:xfrm>
            <a:off x="836771" y="3194273"/>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No Few-Shot Limitation</a:t>
            </a:r>
            <a:endParaRPr lang="en-US" sz="1600" dirty="0">
              <a:latin typeface="Calibri" panose="020F0502020204030204" pitchFamily="34" charset="0"/>
              <a:cs typeface="Calibri" panose="020F0502020204030204" pitchFamily="34" charset="0"/>
            </a:endParaRPr>
          </a:p>
        </p:txBody>
      </p:sp>
      <p:sp>
        <p:nvSpPr>
          <p:cNvPr id="15" name="Text 13"/>
          <p:cNvSpPr/>
          <p:nvPr/>
        </p:nvSpPr>
        <p:spPr>
          <a:xfrm>
            <a:off x="836771" y="3445972"/>
            <a:ext cx="6325314" cy="148709"/>
          </a:xfrm>
          <a:prstGeom prst="rect">
            <a:avLst/>
          </a:prstGeom>
          <a:noFill/>
          <a:ln/>
        </p:spPr>
        <p:txBody>
          <a:bodyPr wrap="non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Unlike in-context learning, supervised models aren't constrained by the number of demonstrations that fit in the prompt</a:t>
            </a:r>
            <a:endParaRPr lang="en-US" sz="1200" dirty="0">
              <a:latin typeface="Calibri" panose="020F0502020204030204" pitchFamily="34" charset="0"/>
              <a:cs typeface="Calibri" panose="020F0502020204030204" pitchFamily="34" charset="0"/>
            </a:endParaRPr>
          </a:p>
        </p:txBody>
      </p:sp>
      <p:sp>
        <p:nvSpPr>
          <p:cNvPr id="16" name="Shape 14"/>
          <p:cNvSpPr/>
          <p:nvPr/>
        </p:nvSpPr>
        <p:spPr>
          <a:xfrm>
            <a:off x="8174950" y="1576626"/>
            <a:ext cx="5743218" cy="1225272"/>
          </a:xfrm>
          <a:prstGeom prst="roundRect">
            <a:avLst>
              <a:gd name="adj" fmla="val 1915"/>
            </a:avLst>
          </a:prstGeom>
          <a:solidFill>
            <a:srgbClr val="B3C3FF"/>
          </a:solidFill>
          <a:ln/>
        </p:spPr>
        <p:txBody>
          <a:bodyPr/>
          <a:lstStyle/>
          <a:p>
            <a:endParaRPr lang="zh-CN" altLang="en-US">
              <a:latin typeface="Calibri" panose="020F0502020204030204" pitchFamily="34" charset="0"/>
              <a:cs typeface="Calibri" panose="020F0502020204030204" pitchFamily="34" charset="0"/>
            </a:endParaRPr>
          </a:p>
        </p:txBody>
      </p:sp>
      <p:pic>
        <p:nvPicPr>
          <p:cNvPr id="17" name="Image 0" descr="preencoded.png"/>
          <p:cNvPicPr>
            <a:picLocks noChangeAspect="1"/>
          </p:cNvPicPr>
          <p:nvPr/>
        </p:nvPicPr>
        <p:blipFill>
          <a:blip r:embed="rId3"/>
          <a:stretch>
            <a:fillRect/>
          </a:stretch>
        </p:blipFill>
        <p:spPr>
          <a:xfrm>
            <a:off x="8262976" y="1733781"/>
            <a:ext cx="182761" cy="146209"/>
          </a:xfrm>
          <a:prstGeom prst="rect">
            <a:avLst/>
          </a:prstGeom>
        </p:spPr>
      </p:pic>
      <p:sp>
        <p:nvSpPr>
          <p:cNvPr id="19" name="Text 16"/>
          <p:cNvSpPr/>
          <p:nvPr/>
        </p:nvSpPr>
        <p:spPr>
          <a:xfrm>
            <a:off x="8533763" y="1685985"/>
            <a:ext cx="5267486" cy="686574"/>
          </a:xfrm>
          <a:prstGeom prst="rect">
            <a:avLst/>
          </a:prstGeom>
          <a:noFill/>
          <a:ln/>
        </p:spPr>
        <p:txBody>
          <a:bodyPr wrap="square" lIns="0" tIns="0" rIns="0" bIns="0" rtlCol="0" anchor="t"/>
          <a:lstStyle/>
          <a:p>
            <a:pPr marL="0" indent="0" algn="l">
              <a:buNone/>
            </a:pPr>
            <a:r>
              <a:rPr lang="en-US" sz="1600" dirty="0">
                <a:solidFill>
                  <a:srgbClr val="000000"/>
                </a:solidFill>
                <a:latin typeface="Calibri" panose="020F0502020204030204" pitchFamily="34" charset="0"/>
                <a:ea typeface="Heebo" pitchFamily="34" charset="-122"/>
                <a:cs typeface="Calibri" panose="020F0502020204030204" pitchFamily="34" charset="0"/>
              </a:rPr>
              <a:t>Despite the improvements, </a:t>
            </a:r>
            <a:r>
              <a:rPr lang="en-US" sz="1600" b="1" dirty="0">
                <a:solidFill>
                  <a:srgbClr val="000000"/>
                </a:solidFill>
                <a:latin typeface="Calibri" panose="020F0502020204030204" pitchFamily="34" charset="0"/>
                <a:ea typeface="Heebo" pitchFamily="34" charset="-122"/>
                <a:cs typeface="Calibri" panose="020F0502020204030204" pitchFamily="34" charset="0"/>
              </a:rPr>
              <a:t>accuracy remains below 50%</a:t>
            </a:r>
            <a:r>
              <a:rPr lang="en-US" sz="1600" dirty="0">
                <a:solidFill>
                  <a:srgbClr val="000000"/>
                </a:solidFill>
                <a:latin typeface="Calibri" panose="020F0502020204030204" pitchFamily="34" charset="0"/>
                <a:ea typeface="Heebo" pitchFamily="34" charset="-122"/>
                <a:cs typeface="Calibri" panose="020F0502020204030204" pitchFamily="34" charset="0"/>
              </a:rPr>
              <a:t>, meaning models still fail to identify the best headline more than half the time. This indicates that LLMs alone cannot fully replace experimentation in high-stakes content decisions.</a:t>
            </a:r>
            <a:endParaRPr lang="en-US" sz="1600" dirty="0">
              <a:latin typeface="Calibri" panose="020F0502020204030204" pitchFamily="34" charset="0"/>
              <a:cs typeface="Calibri" panose="020F0502020204030204" pitchFamily="34" charset="0"/>
            </a:endParaRPr>
          </a:p>
        </p:txBody>
      </p:sp>
      <p:sp>
        <p:nvSpPr>
          <p:cNvPr id="20" name="Shape 17"/>
          <p:cNvSpPr/>
          <p:nvPr/>
        </p:nvSpPr>
        <p:spPr>
          <a:xfrm>
            <a:off x="719852" y="3821012"/>
            <a:ext cx="13190696" cy="22146"/>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21" name="Text 18"/>
          <p:cNvSpPr/>
          <p:nvPr/>
        </p:nvSpPr>
        <p:spPr>
          <a:xfrm>
            <a:off x="709374" y="3985206"/>
            <a:ext cx="2380893" cy="292418"/>
          </a:xfrm>
          <a:prstGeom prst="rect">
            <a:avLst/>
          </a:prstGeom>
          <a:noFill/>
          <a:ln/>
        </p:spPr>
        <p:txBody>
          <a:bodyPr wrap="none" lIns="0" tIns="0" rIns="0" bIns="0" rtlCol="0" anchor="t"/>
          <a:lstStyle/>
          <a:p>
            <a:pPr marL="0" indent="0" algn="l">
              <a:lnSpc>
                <a:spcPts val="230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Implications for Practice</a:t>
            </a:r>
            <a:endParaRPr lang="en-US" sz="2400" dirty="0">
              <a:latin typeface="Calibri" panose="020F0502020204030204" pitchFamily="34" charset="0"/>
              <a:cs typeface="Calibri" panose="020F0502020204030204" pitchFamily="34" charset="0"/>
            </a:endParaRPr>
          </a:p>
        </p:txBody>
      </p:sp>
      <p:sp>
        <p:nvSpPr>
          <p:cNvPr id="22" name="Shape 19"/>
          <p:cNvSpPr/>
          <p:nvPr/>
        </p:nvSpPr>
        <p:spPr>
          <a:xfrm>
            <a:off x="719852" y="4475202"/>
            <a:ext cx="4350901" cy="1323856"/>
          </a:xfrm>
          <a:prstGeom prst="roundRect">
            <a:avLst>
              <a:gd name="adj" fmla="val 1325"/>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23" name="Shape 20"/>
          <p:cNvSpPr/>
          <p:nvPr/>
        </p:nvSpPr>
        <p:spPr>
          <a:xfrm>
            <a:off x="836771" y="4592122"/>
            <a:ext cx="350877" cy="350877"/>
          </a:xfrm>
          <a:prstGeom prst="roundRect">
            <a:avLst>
              <a:gd name="adj" fmla="val 26057808"/>
            </a:avLst>
          </a:prstGeom>
          <a:solidFill>
            <a:srgbClr val="2150FE"/>
          </a:solidFill>
          <a:ln/>
        </p:spPr>
        <p:txBody>
          <a:bodyPr/>
          <a:lstStyle/>
          <a:p>
            <a:endParaRPr lang="zh-CN" altLang="en-US">
              <a:latin typeface="Calibri" panose="020F0502020204030204" pitchFamily="34" charset="0"/>
              <a:cs typeface="Calibri" panose="020F0502020204030204" pitchFamily="34" charset="0"/>
            </a:endParaRPr>
          </a:p>
        </p:txBody>
      </p:sp>
      <p:pic>
        <p:nvPicPr>
          <p:cNvPr id="2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212" y="4688562"/>
            <a:ext cx="157877" cy="157877"/>
          </a:xfrm>
          <a:prstGeom prst="rect">
            <a:avLst/>
          </a:prstGeom>
        </p:spPr>
      </p:pic>
      <p:sp>
        <p:nvSpPr>
          <p:cNvPr id="25" name="Text 21"/>
          <p:cNvSpPr/>
          <p:nvPr/>
        </p:nvSpPr>
        <p:spPr>
          <a:xfrm>
            <a:off x="836771" y="5011936"/>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Cost-Effectiveness</a:t>
            </a:r>
            <a:endParaRPr lang="en-US" sz="1600" dirty="0">
              <a:latin typeface="Calibri" panose="020F0502020204030204" pitchFamily="34" charset="0"/>
              <a:cs typeface="Calibri" panose="020F0502020204030204" pitchFamily="34" charset="0"/>
            </a:endParaRPr>
          </a:p>
        </p:txBody>
      </p:sp>
      <p:sp>
        <p:nvSpPr>
          <p:cNvPr id="26" name="Text 22"/>
          <p:cNvSpPr/>
          <p:nvPr/>
        </p:nvSpPr>
        <p:spPr>
          <a:xfrm>
            <a:off x="836771" y="5236012"/>
            <a:ext cx="4117062" cy="446127"/>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Embedding-based models could reduce experimentation costs by pre-screening poor headline options, though complete replacement remains impractical</a:t>
            </a:r>
            <a:endParaRPr lang="en-US" sz="1200" dirty="0">
              <a:latin typeface="Calibri" panose="020F0502020204030204" pitchFamily="34" charset="0"/>
              <a:cs typeface="Calibri" panose="020F0502020204030204" pitchFamily="34" charset="0"/>
            </a:endParaRPr>
          </a:p>
        </p:txBody>
      </p:sp>
      <p:sp>
        <p:nvSpPr>
          <p:cNvPr id="27" name="Shape 23"/>
          <p:cNvSpPr/>
          <p:nvPr/>
        </p:nvSpPr>
        <p:spPr>
          <a:xfrm>
            <a:off x="5139690" y="4475202"/>
            <a:ext cx="4350901" cy="1323856"/>
          </a:xfrm>
          <a:prstGeom prst="roundRect">
            <a:avLst>
              <a:gd name="adj" fmla="val 1325"/>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28" name="Shape 24"/>
          <p:cNvSpPr/>
          <p:nvPr/>
        </p:nvSpPr>
        <p:spPr>
          <a:xfrm>
            <a:off x="5256609" y="4592122"/>
            <a:ext cx="350877" cy="350877"/>
          </a:xfrm>
          <a:prstGeom prst="roundRect">
            <a:avLst>
              <a:gd name="adj" fmla="val 26057808"/>
            </a:avLst>
          </a:prstGeom>
          <a:solidFill>
            <a:srgbClr val="2150FE"/>
          </a:solidFill>
          <a:ln/>
        </p:spPr>
        <p:txBody>
          <a:bodyPr/>
          <a:lstStyle/>
          <a:p>
            <a:endParaRPr lang="zh-CN" altLang="en-US">
              <a:latin typeface="Calibri" panose="020F0502020204030204" pitchFamily="34" charset="0"/>
              <a:cs typeface="Calibri" panose="020F0502020204030204" pitchFamily="34" charset="0"/>
            </a:endParaRPr>
          </a:p>
        </p:txBody>
      </p:sp>
      <p:pic>
        <p:nvPicPr>
          <p:cNvPr id="2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53050" y="4688562"/>
            <a:ext cx="157877" cy="157877"/>
          </a:xfrm>
          <a:prstGeom prst="rect">
            <a:avLst/>
          </a:prstGeom>
        </p:spPr>
      </p:pic>
      <p:sp>
        <p:nvSpPr>
          <p:cNvPr id="30" name="Text 25"/>
          <p:cNvSpPr/>
          <p:nvPr/>
        </p:nvSpPr>
        <p:spPr>
          <a:xfrm>
            <a:off x="5256609" y="5011936"/>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Hybrid Approaches</a:t>
            </a:r>
            <a:endParaRPr lang="en-US" sz="1600" dirty="0">
              <a:latin typeface="Calibri" panose="020F0502020204030204" pitchFamily="34" charset="0"/>
              <a:cs typeface="Calibri" panose="020F0502020204030204" pitchFamily="34" charset="0"/>
            </a:endParaRPr>
          </a:p>
        </p:txBody>
      </p:sp>
      <p:sp>
        <p:nvSpPr>
          <p:cNvPr id="31" name="Text 26"/>
          <p:cNvSpPr/>
          <p:nvPr/>
        </p:nvSpPr>
        <p:spPr>
          <a:xfrm>
            <a:off x="5256609" y="5236012"/>
            <a:ext cx="4117062" cy="446127"/>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Future work should explore LOLA (LLM-Assisted Online Learning Algorithm) frameworks that combine LLM predictions with bandit algorithms for adaptive traffic allocation</a:t>
            </a:r>
            <a:endParaRPr lang="en-US" sz="1200" dirty="0">
              <a:latin typeface="Calibri" panose="020F0502020204030204" pitchFamily="34" charset="0"/>
              <a:cs typeface="Calibri" panose="020F0502020204030204" pitchFamily="34" charset="0"/>
            </a:endParaRPr>
          </a:p>
        </p:txBody>
      </p:sp>
      <p:sp>
        <p:nvSpPr>
          <p:cNvPr id="32" name="Shape 27"/>
          <p:cNvSpPr/>
          <p:nvPr/>
        </p:nvSpPr>
        <p:spPr>
          <a:xfrm>
            <a:off x="9559528" y="4475202"/>
            <a:ext cx="4351020" cy="1323856"/>
          </a:xfrm>
          <a:prstGeom prst="roundRect">
            <a:avLst>
              <a:gd name="adj" fmla="val 1325"/>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33" name="Shape 28"/>
          <p:cNvSpPr/>
          <p:nvPr/>
        </p:nvSpPr>
        <p:spPr>
          <a:xfrm>
            <a:off x="9676448" y="4592122"/>
            <a:ext cx="350877" cy="350877"/>
          </a:xfrm>
          <a:prstGeom prst="roundRect">
            <a:avLst>
              <a:gd name="adj" fmla="val 26057808"/>
            </a:avLst>
          </a:prstGeom>
          <a:solidFill>
            <a:srgbClr val="2150FE"/>
          </a:solidFill>
          <a:ln/>
        </p:spPr>
        <p:txBody>
          <a:bodyPr/>
          <a:lstStyle/>
          <a:p>
            <a:endParaRPr lang="zh-CN" altLang="en-US">
              <a:latin typeface="Calibri" panose="020F0502020204030204" pitchFamily="34" charset="0"/>
              <a:cs typeface="Calibri" panose="020F0502020204030204" pitchFamily="34" charset="0"/>
            </a:endParaRPr>
          </a:p>
        </p:txBody>
      </p:sp>
      <p:pic>
        <p:nvPicPr>
          <p:cNvPr id="34"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72888" y="4688562"/>
            <a:ext cx="157877" cy="157877"/>
          </a:xfrm>
          <a:prstGeom prst="rect">
            <a:avLst/>
          </a:prstGeom>
        </p:spPr>
      </p:pic>
      <p:sp>
        <p:nvSpPr>
          <p:cNvPr id="35" name="Text 29"/>
          <p:cNvSpPr/>
          <p:nvPr/>
        </p:nvSpPr>
        <p:spPr>
          <a:xfrm>
            <a:off x="9676448" y="5011936"/>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Refined Features</a:t>
            </a:r>
            <a:endParaRPr lang="en-US" sz="1600" dirty="0">
              <a:latin typeface="Calibri" panose="020F0502020204030204" pitchFamily="34" charset="0"/>
              <a:cs typeface="Calibri" panose="020F0502020204030204" pitchFamily="34" charset="0"/>
            </a:endParaRPr>
          </a:p>
        </p:txBody>
      </p:sp>
      <p:sp>
        <p:nvSpPr>
          <p:cNvPr id="36" name="Text 30"/>
          <p:cNvSpPr/>
          <p:nvPr/>
        </p:nvSpPr>
        <p:spPr>
          <a:xfrm>
            <a:off x="9676448" y="5236012"/>
            <a:ext cx="4117181" cy="297418"/>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Performance might improve with domain-specific embeddings trained on headline data rather than generic OpenAI embeddings</a:t>
            </a:r>
            <a:endParaRPr lang="en-US" sz="1200" dirty="0">
              <a:latin typeface="Calibri" panose="020F0502020204030204" pitchFamily="34" charset="0"/>
              <a:cs typeface="Calibri" panose="020F0502020204030204" pitchFamily="34" charset="0"/>
            </a:endParaRPr>
          </a:p>
        </p:txBody>
      </p:sp>
      <p:sp>
        <p:nvSpPr>
          <p:cNvPr id="37" name="Text 31"/>
          <p:cNvSpPr/>
          <p:nvPr/>
        </p:nvSpPr>
        <p:spPr>
          <a:xfrm>
            <a:off x="719852" y="6050689"/>
            <a:ext cx="2611993" cy="292418"/>
          </a:xfrm>
          <a:prstGeom prst="rect">
            <a:avLst/>
          </a:prstGeom>
          <a:noFill/>
          <a:ln/>
        </p:spPr>
        <p:txBody>
          <a:bodyPr wrap="none" lIns="0" tIns="0" rIns="0" bIns="0" rtlCol="0" anchor="t"/>
          <a:lstStyle/>
          <a:p>
            <a:pPr marL="0" indent="0" algn="l">
              <a:lnSpc>
                <a:spcPts val="230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Future Research Directions</a:t>
            </a:r>
            <a:endParaRPr lang="en-US" sz="2400" dirty="0">
              <a:latin typeface="Calibri" panose="020F0502020204030204" pitchFamily="34" charset="0"/>
              <a:cs typeface="Calibri" panose="020F0502020204030204" pitchFamily="34" charset="0"/>
            </a:endParaRPr>
          </a:p>
        </p:txBody>
      </p:sp>
      <p:sp>
        <p:nvSpPr>
          <p:cNvPr id="38" name="Text 32"/>
          <p:cNvSpPr/>
          <p:nvPr/>
        </p:nvSpPr>
        <p:spPr>
          <a:xfrm>
            <a:off x="719852" y="6446453"/>
            <a:ext cx="13190696" cy="839748"/>
          </a:xfrm>
          <a:prstGeom prst="rect">
            <a:avLst/>
          </a:prstGeom>
          <a:noFill/>
          <a:ln/>
        </p:spPr>
        <p:txBody>
          <a:bodyPr wrap="square" lIns="0" tIns="0" rIns="0" bIns="0" rtlCol="0" anchor="t"/>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Testing fine-tuned LLM architectures on this dataset</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Developing LOLA frameworks that integrate LLM predictions with online learning</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Exploring cold-start solutions for new content categories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Validating findings on news headline datasets with shorter time horizons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Investigating multi-modal approaches incorporating article content and images</a:t>
            </a:r>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25E7-3838-41D7-63FD-DB68F079630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AF0161-930F-FBC1-6397-2D089AC835DE}"/>
              </a:ext>
            </a:extLst>
          </p:cNvPr>
          <p:cNvSpPr/>
          <p:nvPr/>
        </p:nvSpPr>
        <p:spPr>
          <a:xfrm>
            <a:off x="789503" y="551140"/>
            <a:ext cx="7982188" cy="524232"/>
          </a:xfrm>
          <a:prstGeom prst="rect">
            <a:avLst/>
          </a:prstGeom>
          <a:noFill/>
          <a:ln/>
        </p:spPr>
        <p:txBody>
          <a:bodyPr wrap="none" lIns="0" tIns="0" rIns="0" bIns="0" rtlCol="0" anchor="t"/>
          <a:lstStyle/>
          <a:p>
            <a:pPr marL="0" indent="0" algn="l">
              <a:lnSpc>
                <a:spcPts val="41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Fine-Tuning Open-Source LLMs with </a:t>
            </a:r>
            <a:r>
              <a:rPr lang="en-US" sz="3600" b="1" dirty="0" err="1">
                <a:solidFill>
                  <a:srgbClr val="152D47"/>
                </a:solidFill>
                <a:latin typeface="Calibri" panose="020F0502020204030204" pitchFamily="34" charset="0"/>
                <a:ea typeface="Crimson Pro Semi Bold" pitchFamily="34" charset="-122"/>
                <a:cs typeface="Calibri" panose="020F0502020204030204" pitchFamily="34" charset="0"/>
              </a:rPr>
              <a:t>LoRA</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05F63DD2-386E-A199-0BD2-A32E94328519}"/>
              </a:ext>
            </a:extLst>
          </p:cNvPr>
          <p:cNvSpPr/>
          <p:nvPr/>
        </p:nvSpPr>
        <p:spPr>
          <a:xfrm>
            <a:off x="789503" y="1358979"/>
            <a:ext cx="13051393" cy="1340330"/>
          </a:xfrm>
          <a:prstGeom prst="rect">
            <a:avLst/>
          </a:prstGeom>
          <a:noFill/>
          <a:ln/>
        </p:spPr>
        <p:txBody>
          <a:bodyPr wrap="square" lIns="0" tIns="0" rIns="0" bIns="0" rtlCol="0" anchor="t"/>
          <a:lstStyle/>
          <a:p>
            <a:pPr marL="0" indent="0" algn="l">
              <a:lnSpc>
                <a:spcPct val="150000"/>
              </a:lnSpc>
              <a:buNone/>
            </a:pPr>
            <a:r>
              <a:rPr 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If we can train LLMs directly,  can we achieve better performance?</a:t>
            </a:r>
            <a:endParaRPr lang="en-US" sz="2000" dirty="0">
              <a:solidFill>
                <a:schemeClr val="tx1">
                  <a:lumMod val="85000"/>
                  <a:lumOff val="15000"/>
                </a:schemeClr>
              </a:solidFill>
              <a:latin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The goal of fine-tuning is to adapt a general-purpose LLM for specific downstream tasks through a process typically involving supervised learning using labeled datasets.</a:t>
            </a:r>
          </a:p>
          <a:p>
            <a:pPr marL="342900" indent="-342900">
              <a:lnSpc>
                <a:spcPct val="150000"/>
              </a:lnSpc>
              <a:buFont typeface="Arial" panose="020B0604020202020204" pitchFamily="34" charset="0"/>
              <a:buChar char="•"/>
            </a:pPr>
            <a:r>
              <a:rPr lang="en-US" sz="2000" b="1" dirty="0">
                <a:solidFill>
                  <a:schemeClr val="tx1">
                    <a:lumMod val="85000"/>
                    <a:lumOff val="15000"/>
                  </a:schemeClr>
                </a:solidFill>
                <a:latin typeface="Calibri" panose="020F0502020204030204" pitchFamily="34" charset="0"/>
                <a:cs typeface="Calibri" panose="020F0502020204030204" pitchFamily="34" charset="0"/>
              </a:rPr>
              <a:t>Low-Rank Adaptation (</a:t>
            </a:r>
            <a:r>
              <a:rPr lang="en-US" sz="2000" b="1" dirty="0" err="1">
                <a:solidFill>
                  <a:schemeClr val="tx1">
                    <a:lumMod val="85000"/>
                    <a:lumOff val="15000"/>
                  </a:schemeClr>
                </a:solidFill>
                <a:latin typeface="Calibri" panose="020F0502020204030204" pitchFamily="34" charset="0"/>
                <a:cs typeface="Calibri" panose="020F0502020204030204" pitchFamily="34" charset="0"/>
              </a:rPr>
              <a:t>LoRA</a:t>
            </a:r>
            <a:r>
              <a:rPr lang="en-US" sz="2000" b="1" dirty="0">
                <a:solidFill>
                  <a:schemeClr val="tx1">
                    <a:lumMod val="85000"/>
                    <a:lumOff val="15000"/>
                  </a:schemeClr>
                </a:solidFill>
                <a:latin typeface="Calibri" panose="020F0502020204030204" pitchFamily="34" charset="0"/>
                <a:cs typeface="Calibri" panose="020F0502020204030204" pitchFamily="34" charset="0"/>
              </a:rPr>
              <a:t>), </a:t>
            </a:r>
            <a:r>
              <a:rPr lang="en-US" sz="2000" dirty="0">
                <a:solidFill>
                  <a:schemeClr val="tx1">
                    <a:lumMod val="85000"/>
                    <a:lumOff val="15000"/>
                  </a:schemeClr>
                </a:solidFill>
                <a:latin typeface="Calibri" panose="020F0502020204030204" pitchFamily="34" charset="0"/>
                <a:cs typeface="Calibri" panose="020F0502020204030204" pitchFamily="34" charset="0"/>
              </a:rPr>
              <a:t>a popular Parameter-Efficient </a:t>
            </a:r>
            <a:r>
              <a:rPr lang="en-US" sz="2000" dirty="0" err="1">
                <a:solidFill>
                  <a:schemeClr val="tx1">
                    <a:lumMod val="85000"/>
                    <a:lumOff val="15000"/>
                  </a:schemeClr>
                </a:solidFill>
                <a:latin typeface="Calibri" panose="020F0502020204030204" pitchFamily="34" charset="0"/>
                <a:cs typeface="Calibri" panose="020F0502020204030204" pitchFamily="34" charset="0"/>
              </a:rPr>
              <a:t>FineTuning</a:t>
            </a:r>
            <a:r>
              <a:rPr lang="en-US" sz="2000" dirty="0">
                <a:solidFill>
                  <a:schemeClr val="tx1">
                    <a:lumMod val="85000"/>
                    <a:lumOff val="15000"/>
                  </a:schemeClr>
                </a:solidFill>
                <a:latin typeface="Calibri" panose="020F0502020204030204" pitchFamily="34" charset="0"/>
                <a:cs typeface="Calibri" panose="020F0502020204030204" pitchFamily="34" charset="0"/>
              </a:rPr>
              <a:t> (PEFT) method.</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Finetuned model: Llama-3-70b vs qwen3-8B (our foundation model)</a:t>
            </a:r>
          </a:p>
        </p:txBody>
      </p:sp>
      <p:pic>
        <p:nvPicPr>
          <p:cNvPr id="14" name="Picture 13">
            <a:extLst>
              <a:ext uri="{FF2B5EF4-FFF2-40B4-BE49-F238E27FC236}">
                <a16:creationId xmlns:a16="http://schemas.microsoft.com/office/drawing/2014/main" id="{34FADA48-49CD-6717-0EEB-A96B8FCADF1A}"/>
              </a:ext>
            </a:extLst>
          </p:cNvPr>
          <p:cNvPicPr>
            <a:picLocks noChangeAspect="1"/>
          </p:cNvPicPr>
          <p:nvPr/>
        </p:nvPicPr>
        <p:blipFill>
          <a:blip r:embed="rId3"/>
          <a:stretch>
            <a:fillRect/>
          </a:stretch>
        </p:blipFill>
        <p:spPr>
          <a:xfrm>
            <a:off x="1166651" y="3692748"/>
            <a:ext cx="5833996" cy="4478331"/>
          </a:xfrm>
          <a:prstGeom prst="rect">
            <a:avLst/>
          </a:prstGeom>
        </p:spPr>
      </p:pic>
    </p:spTree>
    <p:extLst>
      <p:ext uri="{BB962C8B-B14F-4D97-AF65-F5344CB8AC3E}">
        <p14:creationId xmlns:p14="http://schemas.microsoft.com/office/powerpoint/2010/main" val="810471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34513-DD7A-848A-116B-AA26A904BB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BA9553F-586A-9D7C-9251-BF070002490D}"/>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A Novel Approach—LOLA: LLM-Assisted Online Learning Algorithm</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35903CAA-C89C-E747-34E5-FEC2F7B95B9F}"/>
              </a:ext>
            </a:extLst>
          </p:cNvPr>
          <p:cNvSpPr/>
          <p:nvPr/>
        </p:nvSpPr>
        <p:spPr>
          <a:xfrm>
            <a:off x="789503" y="1358979"/>
            <a:ext cx="13051393" cy="1340330"/>
          </a:xfrm>
          <a:prstGeom prst="rect">
            <a:avLst/>
          </a:prstGeom>
          <a:noFill/>
          <a:ln/>
        </p:spPr>
        <p:txBody>
          <a:bodyPr wrap="square" lIns="0" tIns="0" rIns="0" bIns="0" rtlCol="0" anchor="t"/>
          <a:lstStyle/>
          <a:p>
            <a:pPr marL="0" indent="0" algn="l">
              <a:lnSpc>
                <a:spcPct val="150000"/>
              </a:lnSpc>
              <a:buNone/>
            </a:pPr>
            <a:r>
              <a:rPr 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A framework that combines the benefits of LLM-based models with experimentation based methods.</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that firms can address the cold-start problem in content experiments </a:t>
            </a:r>
            <a:r>
              <a:rPr lang="en-US" sz="2000" b="1" dirty="0">
                <a:solidFill>
                  <a:schemeClr val="tx1">
                    <a:lumMod val="85000"/>
                    <a:lumOff val="15000"/>
                  </a:schemeClr>
                </a:solidFill>
                <a:latin typeface="Calibri" panose="020F0502020204030204" pitchFamily="34" charset="0"/>
                <a:cs typeface="Calibri" panose="020F0502020204030204" pitchFamily="34" charset="0"/>
              </a:rPr>
              <a:t>by  leveraging predictions from LLM-based approaches as CTR priors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first step;</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and combining them </a:t>
            </a:r>
            <a:r>
              <a:rPr lang="en-US" sz="2000" b="1" dirty="0">
                <a:solidFill>
                  <a:schemeClr val="tx1">
                    <a:lumMod val="85000"/>
                    <a:lumOff val="15000"/>
                  </a:schemeClr>
                </a:solidFill>
                <a:latin typeface="Calibri" panose="020F0502020204030204" pitchFamily="34" charset="0"/>
                <a:cs typeface="Calibri" panose="020F0502020204030204" pitchFamily="34" charset="0"/>
              </a:rPr>
              <a:t>with  an online learning algorithm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second step.</a:t>
            </a:r>
          </a:p>
        </p:txBody>
      </p:sp>
      <p:sp>
        <p:nvSpPr>
          <p:cNvPr id="7" name="TextBox 6">
            <a:extLst>
              <a:ext uri="{FF2B5EF4-FFF2-40B4-BE49-F238E27FC236}">
                <a16:creationId xmlns:a16="http://schemas.microsoft.com/office/drawing/2014/main" id="{D7D40AC8-67E7-0DDD-E33F-09AF30183EED}"/>
              </a:ext>
            </a:extLst>
          </p:cNvPr>
          <p:cNvSpPr txBox="1"/>
          <p:nvPr/>
        </p:nvSpPr>
        <p:spPr>
          <a:xfrm>
            <a:off x="1193982" y="3687902"/>
            <a:ext cx="5913062" cy="33733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dirty="0"/>
              <a:t>Multi-Armed-Bandits (MAB) </a:t>
            </a:r>
            <a:r>
              <a:rPr lang="zh-CN" altLang="en-US" dirty="0"/>
              <a:t>is a class of sequential decision-making problems where a learner must choose  between multiple arms over periods to maximize cumulative reward.</a:t>
            </a:r>
            <a:endParaRPr lang="en-US" altLang="zh-CN" dirty="0"/>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dirty="0"/>
              <a:t>In MAB settings with finite arms, the standard algorithm that is typically used is the </a:t>
            </a:r>
            <a:r>
              <a:rPr lang="en-US" altLang="zh-CN" b="1" dirty="0"/>
              <a:t>Upper Confidence  Bound (UCB)</a:t>
            </a:r>
            <a:r>
              <a:rPr lang="en-US" altLang="zh-CN" dirty="0"/>
              <a:t> algorithm (Auer et al., 2002).</a:t>
            </a:r>
            <a:endParaRPr lang="zh-CN" altLang="en-US" dirty="0"/>
          </a:p>
        </p:txBody>
      </p:sp>
      <p:pic>
        <p:nvPicPr>
          <p:cNvPr id="6" name="Picture 5">
            <a:extLst>
              <a:ext uri="{FF2B5EF4-FFF2-40B4-BE49-F238E27FC236}">
                <a16:creationId xmlns:a16="http://schemas.microsoft.com/office/drawing/2014/main" id="{3D9B6B40-76CF-3186-26FE-EB767FB5A4B4}"/>
              </a:ext>
            </a:extLst>
          </p:cNvPr>
          <p:cNvPicPr>
            <a:picLocks noChangeAspect="1"/>
          </p:cNvPicPr>
          <p:nvPr/>
        </p:nvPicPr>
        <p:blipFill>
          <a:blip r:embed="rId3"/>
          <a:stretch>
            <a:fillRect/>
          </a:stretch>
        </p:blipFill>
        <p:spPr>
          <a:xfrm>
            <a:off x="7901914" y="4003288"/>
            <a:ext cx="4144641" cy="1107130"/>
          </a:xfrm>
          <a:prstGeom prst="rect">
            <a:avLst/>
          </a:prstGeom>
        </p:spPr>
      </p:pic>
      <p:pic>
        <p:nvPicPr>
          <p:cNvPr id="9" name="Picture 8">
            <a:extLst>
              <a:ext uri="{FF2B5EF4-FFF2-40B4-BE49-F238E27FC236}">
                <a16:creationId xmlns:a16="http://schemas.microsoft.com/office/drawing/2014/main" id="{333AA98A-3E40-39CB-6D9C-BA60BD28F2D6}"/>
              </a:ext>
            </a:extLst>
          </p:cNvPr>
          <p:cNvPicPr>
            <a:picLocks noChangeAspect="1"/>
          </p:cNvPicPr>
          <p:nvPr/>
        </p:nvPicPr>
        <p:blipFill>
          <a:blip r:embed="rId4"/>
          <a:stretch>
            <a:fillRect/>
          </a:stretch>
        </p:blipFill>
        <p:spPr>
          <a:xfrm>
            <a:off x="7626410" y="5860831"/>
            <a:ext cx="4606853" cy="1107131"/>
          </a:xfrm>
          <a:prstGeom prst="rect">
            <a:avLst/>
          </a:prstGeom>
        </p:spPr>
      </p:pic>
    </p:spTree>
    <p:extLst>
      <p:ext uri="{BB962C8B-B14F-4D97-AF65-F5344CB8AC3E}">
        <p14:creationId xmlns:p14="http://schemas.microsoft.com/office/powerpoint/2010/main" val="3683607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58621-4030-432B-321B-5CAEE4A2F2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0BB7E7-3974-FFEE-2937-6D2F3232CB4F}"/>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A Novel Approach—LOLA: LLM-Assisted Online Learning Algorithm</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73B7A236-2088-5BCC-FC21-7CD7E4B82669}"/>
              </a:ext>
            </a:extLst>
          </p:cNvPr>
          <p:cNvSpPr/>
          <p:nvPr/>
        </p:nvSpPr>
        <p:spPr>
          <a:xfrm>
            <a:off x="789503" y="1358979"/>
            <a:ext cx="13051393" cy="1340330"/>
          </a:xfrm>
          <a:prstGeom prst="rect">
            <a:avLst/>
          </a:prstGeom>
          <a:noFill/>
          <a:ln/>
        </p:spPr>
        <p:txBody>
          <a:bodyPr wrap="square" lIns="0" tIns="0" rIns="0" bIns="0" rtlCol="0" anchor="t"/>
          <a:lstStyle/>
          <a:p>
            <a:pPr marL="0" indent="0" algn="l">
              <a:lnSpc>
                <a:spcPct val="150000"/>
              </a:lnSpc>
              <a:buNone/>
            </a:pPr>
            <a:r>
              <a:rPr 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A framework that combines the benefits of LLM-based models with experimentation based methods.</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that firms can address the cold-start problem in content experiments </a:t>
            </a:r>
            <a:r>
              <a:rPr lang="en-US" sz="2000" b="1" dirty="0">
                <a:solidFill>
                  <a:schemeClr val="tx1">
                    <a:lumMod val="85000"/>
                    <a:lumOff val="15000"/>
                  </a:schemeClr>
                </a:solidFill>
                <a:latin typeface="Calibri" panose="020F0502020204030204" pitchFamily="34" charset="0"/>
                <a:cs typeface="Calibri" panose="020F0502020204030204" pitchFamily="34" charset="0"/>
              </a:rPr>
              <a:t>by  leveraging predictions from LLM-based approaches as CTR priors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first step;</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and combining them </a:t>
            </a:r>
            <a:r>
              <a:rPr lang="en-US" sz="2000" b="1" dirty="0">
                <a:solidFill>
                  <a:schemeClr val="tx1">
                    <a:lumMod val="85000"/>
                    <a:lumOff val="15000"/>
                  </a:schemeClr>
                </a:solidFill>
                <a:latin typeface="Calibri" panose="020F0502020204030204" pitchFamily="34" charset="0"/>
                <a:cs typeface="Calibri" panose="020F0502020204030204" pitchFamily="34" charset="0"/>
              </a:rPr>
              <a:t>with  an online learning algorithm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second step.</a:t>
            </a:r>
          </a:p>
        </p:txBody>
      </p:sp>
      <p:pic>
        <p:nvPicPr>
          <p:cNvPr id="5" name="Picture 4">
            <a:extLst>
              <a:ext uri="{FF2B5EF4-FFF2-40B4-BE49-F238E27FC236}">
                <a16:creationId xmlns:a16="http://schemas.microsoft.com/office/drawing/2014/main" id="{AD5CFA4E-3515-8502-F15B-834D7364533B}"/>
              </a:ext>
            </a:extLst>
          </p:cNvPr>
          <p:cNvPicPr>
            <a:picLocks noChangeAspect="1"/>
          </p:cNvPicPr>
          <p:nvPr/>
        </p:nvPicPr>
        <p:blipFill>
          <a:blip r:embed="rId3"/>
          <a:stretch>
            <a:fillRect/>
          </a:stretch>
        </p:blipFill>
        <p:spPr>
          <a:xfrm>
            <a:off x="6209049" y="3438145"/>
            <a:ext cx="8091252" cy="4456510"/>
          </a:xfrm>
          <a:prstGeom prst="rect">
            <a:avLst/>
          </a:prstGeom>
        </p:spPr>
      </p:pic>
      <p:sp>
        <p:nvSpPr>
          <p:cNvPr id="11" name="TextBox 10">
            <a:extLst>
              <a:ext uri="{FF2B5EF4-FFF2-40B4-BE49-F238E27FC236}">
                <a16:creationId xmlns:a16="http://schemas.microsoft.com/office/drawing/2014/main" id="{FC24AFEC-C6F6-C456-1BA4-C87F5A23728F}"/>
              </a:ext>
            </a:extLst>
          </p:cNvPr>
          <p:cNvSpPr txBox="1"/>
          <p:nvPr/>
        </p:nvSpPr>
        <p:spPr>
          <a:xfrm>
            <a:off x="1152292" y="4051361"/>
            <a:ext cx="4653775" cy="29578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t>we select the best-performing approach, </a:t>
            </a:r>
            <a:r>
              <a:rPr lang="zh-CN" altLang="en-US" b="1" dirty="0"/>
              <a:t>LoRA fine-tuned model</a:t>
            </a:r>
            <a:r>
              <a:rPr lang="zh-CN" altLang="en-US" dirty="0"/>
              <a:t>, as the best CTR  prediction model in the first step.</a:t>
            </a:r>
            <a:endParaRPr lang="en-US" altLang="zh-CN" dirty="0"/>
          </a:p>
          <a:p>
            <a:pPr marL="285750" indent="-285750">
              <a:lnSpc>
                <a:spcPct val="150000"/>
              </a:lnSpc>
              <a:buFont typeface="Arial" panose="020B0604020202020204" pitchFamily="34" charset="0"/>
              <a:buChar char="•"/>
            </a:pPr>
            <a:r>
              <a:rPr lang="en-US" altLang="zh-CN" dirty="0"/>
              <a:t>In the second step, we build on the bandit framework to </a:t>
            </a:r>
            <a:r>
              <a:rPr lang="en-US" altLang="zh-CN" b="1" dirty="0"/>
              <a:t>design an online algorithm </a:t>
            </a:r>
            <a:r>
              <a:rPr lang="en-US" altLang="zh-CN" dirty="0"/>
              <a:t>that  incorporates the LLM-based CTR predictions from the first step.</a:t>
            </a:r>
            <a:endParaRPr lang="zh-CN" altLang="en-US" dirty="0"/>
          </a:p>
        </p:txBody>
      </p:sp>
    </p:spTree>
    <p:extLst>
      <p:ext uri="{BB962C8B-B14F-4D97-AF65-F5344CB8AC3E}">
        <p14:creationId xmlns:p14="http://schemas.microsoft.com/office/powerpoint/2010/main" val="2240068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22C7-F0D3-62FB-B1E4-6F8C8C1226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D4C48D-F385-05A6-EEFA-80041664ADA7}"/>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Results of LOLA</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EFFF697B-545D-9D0E-AEC7-469399A84BE1}"/>
              </a:ext>
            </a:extLst>
          </p:cNvPr>
          <p:cNvSpPr/>
          <p:nvPr/>
        </p:nvSpPr>
        <p:spPr>
          <a:xfrm>
            <a:off x="789503" y="1358979"/>
            <a:ext cx="13051393" cy="1340330"/>
          </a:xfrm>
          <a:prstGeom prst="rect">
            <a:avLst/>
          </a:prstGeom>
          <a:noFill/>
          <a:ln/>
        </p:spPr>
        <p:txBody>
          <a:bodyPr wrap="square" lIns="0" tIns="0" rIns="0" bIns="0" rtlCol="0" anchor="t"/>
          <a:lstStyle/>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Benchmarks: Explore-then-Commit (E&amp;C); Pure LLM-based approach; Standard UCB (UCB); UCB with LLM priors.</a:t>
            </a:r>
          </a:p>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LOLA: LLM-2UCBs</a:t>
            </a:r>
          </a:p>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Findings:</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the Pure LLM approach exhibits consistent performance across different τ values.</a:t>
            </a:r>
          </a:p>
        </p:txBody>
      </p:sp>
      <p:pic>
        <p:nvPicPr>
          <p:cNvPr id="8" name="Picture 7">
            <a:extLst>
              <a:ext uri="{FF2B5EF4-FFF2-40B4-BE49-F238E27FC236}">
                <a16:creationId xmlns:a16="http://schemas.microsoft.com/office/drawing/2014/main" id="{D3B230B1-3036-8BDF-CBEC-BF55A3DB9D3F}"/>
              </a:ext>
            </a:extLst>
          </p:cNvPr>
          <p:cNvPicPr>
            <a:picLocks noChangeAspect="1"/>
          </p:cNvPicPr>
          <p:nvPr/>
        </p:nvPicPr>
        <p:blipFill>
          <a:blip r:embed="rId3"/>
          <a:stretch>
            <a:fillRect/>
          </a:stretch>
        </p:blipFill>
        <p:spPr>
          <a:xfrm>
            <a:off x="417796" y="3661193"/>
            <a:ext cx="6720789" cy="3865756"/>
          </a:xfrm>
          <a:prstGeom prst="rect">
            <a:avLst/>
          </a:prstGeom>
        </p:spPr>
      </p:pic>
      <p:pic>
        <p:nvPicPr>
          <p:cNvPr id="10" name="Picture 9">
            <a:extLst>
              <a:ext uri="{FF2B5EF4-FFF2-40B4-BE49-F238E27FC236}">
                <a16:creationId xmlns:a16="http://schemas.microsoft.com/office/drawing/2014/main" id="{64982FC6-6BE0-B5FA-9AA3-D64F9F038E40}"/>
              </a:ext>
            </a:extLst>
          </p:cNvPr>
          <p:cNvPicPr>
            <a:picLocks noChangeAspect="1"/>
          </p:cNvPicPr>
          <p:nvPr/>
        </p:nvPicPr>
        <p:blipFill>
          <a:blip r:embed="rId4"/>
          <a:stretch>
            <a:fillRect/>
          </a:stretch>
        </p:blipFill>
        <p:spPr>
          <a:xfrm>
            <a:off x="7315199" y="4114800"/>
            <a:ext cx="7192280" cy="3262430"/>
          </a:xfrm>
          <a:prstGeom prst="rect">
            <a:avLst/>
          </a:prstGeom>
        </p:spPr>
      </p:pic>
    </p:spTree>
    <p:extLst>
      <p:ext uri="{BB962C8B-B14F-4D97-AF65-F5344CB8AC3E}">
        <p14:creationId xmlns:p14="http://schemas.microsoft.com/office/powerpoint/2010/main" val="81071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79CB-62D4-6DA7-07BF-1448DE8960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4B3858-BB39-D463-481B-4E527A76C651}"/>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Replication Results of LOLA</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DE442120-4971-70CB-82D7-F3A20DEDD6E4}"/>
              </a:ext>
            </a:extLst>
          </p:cNvPr>
          <p:cNvSpPr/>
          <p:nvPr/>
        </p:nvSpPr>
        <p:spPr>
          <a:xfrm>
            <a:off x="789503" y="1358979"/>
            <a:ext cx="13051393" cy="1340330"/>
          </a:xfrm>
          <a:prstGeom prst="rect">
            <a:avLst/>
          </a:prstGeom>
          <a:noFill/>
          <a:ln/>
        </p:spPr>
        <p:txBody>
          <a:bodyPr wrap="square" lIns="0" tIns="0" rIns="0" bIns="0" rtlCol="0" anchor="t"/>
          <a:lstStyle/>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Our replication results of LOLA keep consistent with that in the original paper. Specifically,</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as the horizon increases, LOLA starts showing significant gains compared to other algorithms.</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LOLA always outperforms the standard UCB.</a:t>
            </a:r>
          </a:p>
        </p:txBody>
      </p:sp>
      <p:pic>
        <p:nvPicPr>
          <p:cNvPr id="7" name="Picture 6">
            <a:extLst>
              <a:ext uri="{FF2B5EF4-FFF2-40B4-BE49-F238E27FC236}">
                <a16:creationId xmlns:a16="http://schemas.microsoft.com/office/drawing/2014/main" id="{C9E0FC5D-0ADA-F24C-5865-FF1BC85B9ACD}"/>
              </a:ext>
            </a:extLst>
          </p:cNvPr>
          <p:cNvPicPr>
            <a:picLocks noChangeAspect="1"/>
          </p:cNvPicPr>
          <p:nvPr/>
        </p:nvPicPr>
        <p:blipFill>
          <a:blip r:embed="rId3"/>
          <a:stretch>
            <a:fillRect/>
          </a:stretch>
        </p:blipFill>
        <p:spPr>
          <a:xfrm>
            <a:off x="159153" y="3259808"/>
            <a:ext cx="7294891" cy="4229811"/>
          </a:xfrm>
          <a:prstGeom prst="rect">
            <a:avLst/>
          </a:prstGeom>
        </p:spPr>
      </p:pic>
      <p:pic>
        <p:nvPicPr>
          <p:cNvPr id="11" name="Picture 10">
            <a:extLst>
              <a:ext uri="{FF2B5EF4-FFF2-40B4-BE49-F238E27FC236}">
                <a16:creationId xmlns:a16="http://schemas.microsoft.com/office/drawing/2014/main" id="{84057211-60AD-19AB-C55F-409C82F32856}"/>
              </a:ext>
            </a:extLst>
          </p:cNvPr>
          <p:cNvPicPr>
            <a:picLocks noChangeAspect="1"/>
          </p:cNvPicPr>
          <p:nvPr/>
        </p:nvPicPr>
        <p:blipFill>
          <a:blip r:embed="rId4"/>
          <a:stretch>
            <a:fillRect/>
          </a:stretch>
        </p:blipFill>
        <p:spPr>
          <a:xfrm>
            <a:off x="7835045" y="3585635"/>
            <a:ext cx="6526136" cy="3889314"/>
          </a:xfrm>
          <a:prstGeom prst="rect">
            <a:avLst/>
          </a:prstGeom>
        </p:spPr>
      </p:pic>
    </p:spTree>
    <p:extLst>
      <p:ext uri="{BB962C8B-B14F-4D97-AF65-F5344CB8AC3E}">
        <p14:creationId xmlns:p14="http://schemas.microsoft.com/office/powerpoint/2010/main" val="1521411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57EC3-F8C5-A6AF-0B02-FB91E2BEB1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854350-872F-F90C-8C0F-9A3CB86D4011}"/>
              </a:ext>
            </a:extLst>
          </p:cNvPr>
          <p:cNvSpPr/>
          <p:nvPr/>
        </p:nvSpPr>
        <p:spPr>
          <a:xfrm>
            <a:off x="793789" y="1393612"/>
            <a:ext cx="13042821" cy="620078"/>
          </a:xfrm>
          <a:prstGeom prst="rect">
            <a:avLst/>
          </a:prstGeom>
          <a:noFill/>
          <a:ln/>
        </p:spPr>
        <p:txBody>
          <a:bodyPr wrap="none" lIns="0" tIns="0" rIns="0" bIns="0" rtlCol="0" anchor="t"/>
          <a:lstStyle/>
          <a:p>
            <a:pPr marL="0" indent="0" algn="l">
              <a:lnSpc>
                <a:spcPts val="4850"/>
              </a:lnSpc>
              <a:buNone/>
            </a:pPr>
            <a:r>
              <a:rPr lang="en-US" sz="3600" b="1" dirty="0">
                <a:latin typeface="Calibri" panose="020F0502020204030204" pitchFamily="34" charset="0"/>
                <a:ea typeface="Crimson Pro Semi Bold" pitchFamily="34" charset="-122"/>
                <a:cs typeface="Calibri" panose="020F0502020204030204" pitchFamily="34" charset="0"/>
              </a:rPr>
              <a:t>LOLA: LLM-Assisted Online Learning Algorithm</a:t>
            </a:r>
            <a:r>
              <a:rPr lang="zh-CN" altLang="en-US" sz="3600" b="1" dirty="0">
                <a:latin typeface="Calibri" panose="020F0502020204030204" pitchFamily="34" charset="0"/>
                <a:ea typeface="Crimson Pro Semi Bold" pitchFamily="34" charset="-122"/>
                <a:cs typeface="Calibri" panose="020F0502020204030204" pitchFamily="34" charset="0"/>
              </a:rPr>
              <a:t> </a:t>
            </a:r>
            <a:r>
              <a:rPr lang="en-US" sz="3600" b="1" dirty="0">
                <a:latin typeface="Calibri" panose="020F0502020204030204" pitchFamily="34" charset="0"/>
                <a:ea typeface="Crimson Pro Semi Bold" pitchFamily="34" charset="-122"/>
                <a:cs typeface="Calibri" panose="020F0502020204030204" pitchFamily="34" charset="0"/>
              </a:rPr>
              <a:t>for Content Experiments</a:t>
            </a:r>
          </a:p>
        </p:txBody>
      </p:sp>
      <p:sp>
        <p:nvSpPr>
          <p:cNvPr id="3" name="Text 1">
            <a:extLst>
              <a:ext uri="{FF2B5EF4-FFF2-40B4-BE49-F238E27FC236}">
                <a16:creationId xmlns:a16="http://schemas.microsoft.com/office/drawing/2014/main" id="{30C5142B-B755-4B1C-C89A-98A795370E8C}"/>
              </a:ext>
            </a:extLst>
          </p:cNvPr>
          <p:cNvSpPr/>
          <p:nvPr/>
        </p:nvSpPr>
        <p:spPr>
          <a:xfrm>
            <a:off x="793790" y="2410524"/>
            <a:ext cx="6521409" cy="351917"/>
          </a:xfrm>
          <a:prstGeom prst="rect">
            <a:avLst/>
          </a:prstGeom>
          <a:noFill/>
          <a:ln/>
        </p:spPr>
        <p:txBody>
          <a:bodyPr wrap="none" lIns="0" tIns="0" rIns="0" bIns="0" rtlCol="0" anchor="t"/>
          <a:lstStyle/>
          <a:p>
            <a:pPr marL="0" indent="0" algn="l">
              <a:lnSpc>
                <a:spcPts val="25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Ye, Yoganarasimhan, Zheng | Marketing Science, 2025</a:t>
            </a:r>
            <a:endParaRPr lang="en-US" sz="1600" dirty="0">
              <a:latin typeface="Calibri" panose="020F0502020204030204" pitchFamily="34" charset="0"/>
              <a:cs typeface="Calibri" panose="020F0502020204030204" pitchFamily="34" charset="0"/>
            </a:endParaRPr>
          </a:p>
        </p:txBody>
      </p:sp>
      <p:sp>
        <p:nvSpPr>
          <p:cNvPr id="4" name="Shape 2">
            <a:extLst>
              <a:ext uri="{FF2B5EF4-FFF2-40B4-BE49-F238E27FC236}">
                <a16:creationId xmlns:a16="http://schemas.microsoft.com/office/drawing/2014/main" id="{58349B2E-F9F3-772C-32FA-FE88A0DA6038}"/>
              </a:ext>
            </a:extLst>
          </p:cNvPr>
          <p:cNvSpPr/>
          <p:nvPr/>
        </p:nvSpPr>
        <p:spPr>
          <a:xfrm>
            <a:off x="793789" y="3050456"/>
            <a:ext cx="13042821" cy="32385"/>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10" name="Text 1">
            <a:extLst>
              <a:ext uri="{FF2B5EF4-FFF2-40B4-BE49-F238E27FC236}">
                <a16:creationId xmlns:a16="http://schemas.microsoft.com/office/drawing/2014/main" id="{D14F8007-3EE7-CD19-D271-058E7F1E9569}"/>
              </a:ext>
            </a:extLst>
          </p:cNvPr>
          <p:cNvSpPr/>
          <p:nvPr/>
        </p:nvSpPr>
        <p:spPr>
          <a:xfrm>
            <a:off x="7315199" y="2410523"/>
            <a:ext cx="6521409" cy="351917"/>
          </a:xfrm>
          <a:prstGeom prst="rect">
            <a:avLst/>
          </a:prstGeom>
          <a:noFill/>
          <a:ln/>
        </p:spPr>
        <p:txBody>
          <a:bodyPr wrap="none" lIns="0" tIns="0" rIns="0" bIns="0" rtlCol="0" anchor="t"/>
          <a:lstStyle/>
          <a:p>
            <a:pPr>
              <a:lnSpc>
                <a:spcPts val="2500"/>
              </a:lnSpc>
            </a:pPr>
            <a:r>
              <a:rPr lang="en-US" sz="1600" dirty="0">
                <a:latin typeface="Calibri" panose="020F0502020204030204" pitchFamily="34" charset="0"/>
                <a:cs typeface="Calibri" panose="020F0502020204030204" pitchFamily="34" charset="0"/>
              </a:rPr>
              <a:t>Replicated and Presented by Xizhi Liu and Shaoqiang Liu </a:t>
            </a:r>
            <a:r>
              <a:rPr lang="en-US" altLang="zh-CN" sz="1600" dirty="0">
                <a:latin typeface="Calibri" panose="020F0502020204030204" pitchFamily="34" charset="0"/>
                <a:ea typeface="Heebo" pitchFamily="34" charset="-122"/>
                <a:cs typeface="Calibri" panose="020F0502020204030204" pitchFamily="34" charset="0"/>
              </a:rPr>
              <a:t>| DOTE6635, 2026</a:t>
            </a:r>
            <a:r>
              <a:rPr lang="en-US" sz="1600" dirty="0">
                <a:latin typeface="Calibri" panose="020F0502020204030204" pitchFamily="34" charset="0"/>
                <a:cs typeface="Calibri" panose="020F0502020204030204" pitchFamily="34" charset="0"/>
              </a:rPr>
              <a:t> </a:t>
            </a:r>
          </a:p>
        </p:txBody>
      </p:sp>
      <p:sp>
        <p:nvSpPr>
          <p:cNvPr id="7" name="TextBox 6">
            <a:extLst>
              <a:ext uri="{FF2B5EF4-FFF2-40B4-BE49-F238E27FC236}">
                <a16:creationId xmlns:a16="http://schemas.microsoft.com/office/drawing/2014/main" id="{00670797-278C-C1AD-4CB0-321A9B80EF21}"/>
              </a:ext>
            </a:extLst>
          </p:cNvPr>
          <p:cNvSpPr txBox="1"/>
          <p:nvPr/>
        </p:nvSpPr>
        <p:spPr>
          <a:xfrm>
            <a:off x="3560955" y="4508810"/>
            <a:ext cx="7508487" cy="861774"/>
          </a:xfrm>
          <a:prstGeom prst="rect">
            <a:avLst/>
          </a:prstGeom>
          <a:noFill/>
        </p:spPr>
        <p:txBody>
          <a:bodyPr wrap="square" rtlCol="0">
            <a:spAutoFit/>
          </a:bodyPr>
          <a:lstStyle/>
          <a:p>
            <a:pPr algn="ctr"/>
            <a:r>
              <a:rPr lang="en-US" altLang="zh-CN" sz="5000" dirty="0"/>
              <a:t>Thank you for attentions!</a:t>
            </a:r>
            <a:endParaRPr lang="zh-CN" altLang="en-US" sz="5000" dirty="0"/>
          </a:p>
        </p:txBody>
      </p:sp>
    </p:spTree>
    <p:extLst>
      <p:ext uri="{BB962C8B-B14F-4D97-AF65-F5344CB8AC3E}">
        <p14:creationId xmlns:p14="http://schemas.microsoft.com/office/powerpoint/2010/main" val="3998051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753</TotalTime>
  <Words>2418</Words>
  <Application>Microsoft Office PowerPoint</Application>
  <PresentationFormat>Custom</PresentationFormat>
  <Paragraphs>295</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Shaoqiang Liu</cp:lastModifiedBy>
  <cp:revision>53</cp:revision>
  <dcterms:created xsi:type="dcterms:W3CDTF">2026-03-01T11:59:08Z</dcterms:created>
  <dcterms:modified xsi:type="dcterms:W3CDTF">2026-03-02T23:57:36Z</dcterms:modified>
</cp:coreProperties>
</file>